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estimate the observed PM2.5 concentration one hour ahead. After receiving the 10:00 reading, predict 11:00 using pollution and measured weather available through 10:00. Future calendar values are known, but measured target-hour weather is not. The output is concentration in µg/m³. The question is the incremental benefit beyond persistence, not whether a complex model can achieve a large R². Phase 1 delivered literature review, a validated hourly archive, training-only EDA, causal feature engineering, persistence and daily seasonal naive, Ridge and XGBoost, chronological selection, rolling holdout backtests, diagnostics, saved inference, notebooks/CLI, Aircast, tests and documentation. The figures in this deck are built from the completed real-data run, not synthetic fixtures. Separate deep-learning or hybrid modules do not add results to the Phase 1 tables. We will show both gains and limitations, including the strong validation baselines and the difficult high-pollution subset.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UCI 381 file has 43,824 hourly rows, sorted unique timestamps, no absent timestamp rows and 2,067 missing PM2.5 measurements (4.72%). Numeric weather is complete. The gap audit finds 214 concentration runs, with a maximum length of 155 hours. We leave missing measurements in their hourly slots: deleting the 10:00 row would incorrectly make a one-row shift at 11:00 point to 09:00. The loader validates dates, numeric fields and duplicate timestamps, sorts and regularizes before features are built, and removes the No identifier. No target interpolation is used for scoring. Valid high concentrations remain: a statistical outlier is not automatically a recording error. The histogram uses only 2010–2012, with 24,418 measured values, mean 97.82, median 73, range 0–994, skewness 1.70 and p90 218 µg/m³. The missingness plot is a descriptive full-archive quality audit, not an EDA-based predictor decision using holdout outcomes. Missing counts are 669, 728, 489, 82 and 99 in 2010–2014 respectively. Pollution was recorded at the US Embassy and weather at Beijing Capital International Airport, introducing a spatial mismatch. Dataset: https://archive.ics.uci.edu/dataset/381/beijing+pm2+5+data ; DOI 10.24432/C5JS49, CC BY 4.0. Environmental context: Liang et al. (2015), DOI 10.1098/rspa.2015.0257.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lag autocorrelations are measured on the regular hourly training grid without deleting gaps. One-hour autocorrelation is 0.961, 24-hour is 0.394 and 168-hour is approximately −0.006. Strong short-term dependence motivates persistence and recent lags. It does not prove each proposed lag is useful; grouped ablation later tests additions. The hourly graph pools the 2010–2012 values by hour of day. The highest mean is at 01:00 (113.08, based on 1,020 observations). October has the largest monthly mean (118.17) in the saved training profile, though the deck focuses on the daily graph for readability. Calendar features are candidates, not a claim that every day repeats yesterday. Numeric weather correlations with PM2.5 include wind speed −0.264, dew point +0.245, pressure −0.138, rain hours −0.055, snow hours +0.011 and temperature +0.003. Small Pearson correlations do not exclude nonlinear predictive effects. Spatial mismatch and correlated weather variables prevent a causal interpretation. The right tail and 7.17% training missingness motivate retaining peaks and reporting historical support. These findings justify features and diagnostics before inspecting the holdout, while chronological validation determines whether additions improve forecasts.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PM2.5 offsets are 0, 1, 2, 3, 6, 12, 24, 48, 72, 168, each with a missingness flag (20 columns). Lag zero is the current observed y(t), not the future label. Six trailing windows each supply mean, population standard deviation (ddof 0) and observed fraction (18). Missing summaries remain missing when the support is empty. Seven calendar columns use sine/cosine for known target hour, weekday and month plus weekend. Six numeric weather fields at 0, 1 and 24 hours contribute 18 columns, current weather missing flags contribute six, and current wind contributes one categorical column. Total 70; four observed wind categories give 73 encoded columns. Encoders and Ridge medians/scalers are learned inside each fold. Persistence repeats y(t); the seasonal source is t−23, which is one day before the target t+1. Using t−24 would be the wrong clock hour. Ridge fits squared error plus an L2 penalty with alpha 10. XGBoost builds F_K(x)=b+sum eta f_k(x), penalizing tree leaves and leaf weights; gradients/Hessians yield leaf score −G/(H+lambda). Depth, child weight, shrinkage, sampling and regularization control complexity. Learned outputs are clipped at zero consistently in all phases. Sources: Chen and Guestrin (2016), https://arxiv.org/abs/1603.02754 ; Hoerl and Kennard (1970), DOI 10.1080/00401706.1970.10488634.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2010–2012 period is initial training and EDA. Four expanding quarterly folds in 2013 choose parameters using pooled validation RMSE. Four quarterly 2014 folds then evaluate the frozen setting. The figure shows XGBoost validation RMSE falling 27.513 → 27.092 → 26.772 as trailing/calendar and weather groups are added. The selected settings remain fixed during this comparison; it is not separate optimal tuning for every group. Dashed reference lines show persistence 24.870 and Ridge 23.809, both better than full XGBoost on validation. Candidate RMSEs are 26.772, 26.801, 26.953, a narrow separation rather than a globally proven optimum. Selected XGBoost has 300 trees, depth 3, learning rate 0.05, child weight 5, subsample 0.8, colsample 0.9 and lambda 5, with seed 42, histogram trees and two threads. There is no test-based early stopping. For block start B, the first forecast origin is B−h and every training label must be known by that origin. Q1 2014 uses labels through 31 December 2013 at 23:00, with 32,951 eligible training rows; Q4 has 39,447. Later observed quarters can enter later fits under the same policy. The shared mask requires warm-up, a real target and both naive inputs, yielding 8,563 validation and 8,531 holdout targets. Exclusion counts overlap. Methodological basis: https://otexts.com/fpp3/toolbox.html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methods are scored on the same 8,531 observed target hours out of 8,760 in 2014: 97.39% coverage. The 229 excluded hours lack a target or at least one naive input; the exclusion counts overlap. The graph starts at zero and shows the weak seasonal reference without hiding its large error. Persistence MAE 11.926, RMSE 22.033 and R² 0.9442; daily seasonal naive 67.296, 98.754 and −0.1205; Ridge 11.825, 21.063 and 0.9490; XGBoost 11.833, 21.088 and 0.9489. XGBoost improves RMSE 4.29% over persistence, while Ridge improves 4.41%. The learned-model gap of about 0.025 is not a tested statistically significant difference. MAE averages absolute errors; RMSE square-roots the mean squared error and emphasizes large misses. R² compares squared errors with the observed-period mean denominator, may be negative and must not be called percentage accuracy. The negative seasonal R² is retained. Pooled metrics use all errors rather than averaged quarterly RMSEs. XGBoost's favorable 2014 comparison does not erase its weaker 2013 validation comparison. Historical point errors do not give calibrated intervals for future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Quarterly RMSE makes temporal variation visible. Persistence is 27.298, 22.208, 14.527 and 22.255; Ridge 26.063, 21.311, 14.012 and 21.148; XGBoost 26.839, 20.758, 14.087 and 20.770. Both learned methods beat persistence on RMSE each quarter, but Ridge leads Q1 and Q3 and XGBoost Q2 and Q4. XGBoost's Q1 MAE is worse than persistence despite the smaller RMSE. We fix the high-pollution threshold at 218 using the 2010–2012 p90, without consulting the holdout distribution. There are 865 high and 7,666 lower-pollution common hours. On high hours, persistence RMSE is 38.557, Ridge 38.522 and XGBoost 39.959. Below 218, errors are 19.301, 18.062 and 17.740, so the pooled XGBoost gain is largely associated with the lower-pollution subset. High-pollution bias is −5.534 for persistence, −13.313 for Ridge and −11.912 for XGBoost. Negative bias means underprediction. These are descriptive subsets, not a new optimized experiment. No significant ranking or causal mechanism is inferred from the differences. A practical peak-focused use case needs a separately evaluated peak-error objective.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upper graph plots every common forecast hour in the final seven days of 2014, with missing scored hours represented as breaks. Observed concentration, Ridge and XGBoost share the same timestamps. These are saved out-of-fold predictions made by quarterly fitted models, not the final archive-trained models. Tracking the recent level does not guarantee anticipating a sharp change. The lower-left graph uses signed residuals prediction minus observation from all 8,531 holdout hours. Its display is restricted to ±80 µg/m³ for legibility: 78 XGBoost and 75 Ridge errors lie outside this view; histogram percentages retain the denominator of all 8,531 hours. Thus the tails are not silently removed from metrics. Negative residuals are underpredictions. XGBoost median absolute error is 6.88, p90 26.28 and p95 37.46; these empirical quantiles are not prediction intervals. One-hour residual autocorrelation is 0.120 for XGBoost and 0.063 for Ridge, so residual structure remains. The lower-right graph is the largest XGBoost miss, chosen explicitly as a failure case. PM2.5 rises from 80 to 580 in one hour; persistence predicts 80, Ridge 92.469, XGBoost 86.801, an XGBoost absolute miss of about 493.199. Without an independent sensor-quality flag, we retain this target. The visual example explains a failure mode rather than proving all peaks have one cause.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Aircast lets a user append a manual reading or upload an hourly CSV, select an available model, inspect history, generate a next-hour forecast, export results and open the report. The frontend is HTML/CSS/JavaScript with an SVG chart, and Flask validates data before invoking the original feature builder. Uploads need at least 169 hourly slots, unique valid timestamps and physical numeric values, and are bounded at 4 MB / 100,000 rows or hourly slots. The normalized recent window travels with each request and is revalidated, so different server instances can forecast without shared upload sessions. Final model artifacts are refitted only after evaluation and reject histories ending before their fit endpoint. Gain importance belongs to that final refit: latest PM2.5 51.1% and three-hour mean 24.5%; it is not causal attribution, a stability study or holdout feature selection. The recorded independent audit refitted both learned methods across four holdout quarters, reproducing all 17,062 predictions with maximum floating-point difference below 6e−14. It also checked actual targets, references, recomputed metrics, manual-input response and stateless upload parity. Data/source hashes, configuration, versions, selection, fold audits, predictions, model artifacts, preparation exports and tests remain inspectable. Synthetic fixtures test behavior and do not supply scores. Vercel reported Ready; the existing record does not independently verify hosted inference or browser rendering. Sample data is historical. The original uploaded archive gives 2015-01-01 00:00 predictions XGBoost 11.92273 and Ridge 13.63978, unscored because the target is outside the archive. No AQI mapping or calibrated prediction interval is supplied. Future peak objectives, uncertainty methods and sequence/hybrid models require fresh evaluation or an exploratory label after inspecting 2014.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Team: Samarth Khera — 2401010407; Pratham Malhotra — 2401010343; Adityaraj Pal — 2401010042; Tattva Rajput — 2401010478; Himanshu — 2401010188. No email addresses or invented individual contribution allocations are included. Phase 1 delivers a complete classical ML workflow and Aircast demonstration. The measured conclusion is modest 2014 pooled improvement beyond persistence, a close Ridge/XGBoost comparison and unresolved peak performance. Explain lag zero, t−23 seasonal alignment, training-label availability, common scoring hours, the weak 2013 validation comparison and the difference between final refits and historical backtests. The first common target is 2014-01-01 00:00: origin latest PM2.5 23, previous reading 20, three-hour mean 22, observed target 24, persistence 23, Ridge 26.688, XGBoost 21.078 and seasonal 84. It is chosen by time rather than model success and shows why an individual forecast does not determine a year-long ranking. New model choices motivated by inspected holdout errors need fresh evaluation. References and derivations are retained in the seven-page report, the slide notes and the Phase 1 literature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3DE0B1"/>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B8CECE"/>
                </a:solidFill>
                <a:latin typeface="Arial"/>
              </a:rPr>
              <a:t>CSAI PROJECT 19 / PHASE 1 RESEARCH PRESENTATION</a:t>
            </a:r>
          </a:p>
        </p:txBody>
      </p:sp>
      <p:sp>
        <p:nvSpPr>
          <p:cNvPr id="5" name="Rectangle 4"/>
          <p:cNvSpPr/>
          <p:nvPr/>
        </p:nvSpPr>
        <p:spPr>
          <a:xfrm>
            <a:off x="711200" y="914400"/>
            <a:ext cx="14833600" cy="12700"/>
          </a:xfrm>
          <a:prstGeom prst="rect">
            <a:avLst/>
          </a:prstGeom>
          <a:solidFill>
            <a:srgbClr val="2C4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711200" y="8509000"/>
            <a:ext cx="14833600" cy="0"/>
          </a:xfrm>
          <a:prstGeom prst="line">
            <a:avLst/>
          </a:prstGeom>
          <a:ln w="12700">
            <a:solidFill>
              <a:srgbClr val="2C475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B8CECE"/>
                </a:solidFill>
                <a:latin typeface="Arial"/>
              </a:rPr>
              <a:t>CSAI PROJECT 19 / PHASE 1 · MACHINE LEARNING</a:t>
            </a:r>
          </a:p>
        </p:txBody>
      </p:sp>
      <p:sp>
        <p:nvSpPr>
          <p:cNvPr id="8" name="TextBox 7"/>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B8CECE"/>
                </a:solidFill>
                <a:latin typeface="Arial"/>
              </a:rPr>
              <a:t>01 / 10</a:t>
            </a:r>
          </a:p>
        </p:txBody>
      </p:sp>
      <p:sp>
        <p:nvSpPr>
          <p:cNvPr id="9" name="TextBox 8"/>
          <p:cNvSpPr txBox="1"/>
          <p:nvPr/>
        </p:nvSpPr>
        <p:spPr>
          <a:xfrm>
            <a:off x="711200" y="1511300"/>
            <a:ext cx="9461500" cy="970788"/>
          </a:xfrm>
          <a:prstGeom prst="rect">
            <a:avLst/>
          </a:prstGeom>
          <a:noFill/>
        </p:spPr>
        <p:txBody>
          <a:bodyPr wrap="none" lIns="0" rIns="0" tIns="0" bIns="0" anchor="t">
            <a:spAutoFit/>
          </a:bodyPr>
          <a:lstStyle/>
          <a:p>
            <a:pPr algn="l">
              <a:lnSpc>
                <a:spcPct val="100000"/>
              </a:lnSpc>
              <a:spcBef>
                <a:spcPts val="0"/>
              </a:spcBef>
              <a:spcAft>
                <a:spcPts val="0"/>
              </a:spcAft>
            </a:pPr>
            <a:r>
              <a:rPr sz="6800" b="1">
                <a:solidFill>
                  <a:srgbClr val="FFFFFF"/>
                </a:solidFill>
                <a:latin typeface="Arial"/>
              </a:rPr>
              <a:t>Air quality,</a:t>
            </a:r>
          </a:p>
        </p:txBody>
      </p:sp>
      <p:sp>
        <p:nvSpPr>
          <p:cNvPr id="10" name="TextBox 9"/>
          <p:cNvSpPr txBox="1"/>
          <p:nvPr/>
        </p:nvSpPr>
        <p:spPr>
          <a:xfrm>
            <a:off x="711200" y="2443988"/>
            <a:ext cx="9461500" cy="970788"/>
          </a:xfrm>
          <a:prstGeom prst="rect">
            <a:avLst/>
          </a:prstGeom>
          <a:noFill/>
        </p:spPr>
        <p:txBody>
          <a:bodyPr wrap="none" lIns="0" rIns="0" tIns="0" bIns="0" anchor="t">
            <a:spAutoFit/>
          </a:bodyPr>
          <a:lstStyle/>
          <a:p>
            <a:pPr algn="l">
              <a:lnSpc>
                <a:spcPct val="100000"/>
              </a:lnSpc>
              <a:spcBef>
                <a:spcPts val="0"/>
              </a:spcBef>
              <a:spcAft>
                <a:spcPts val="0"/>
              </a:spcAft>
            </a:pPr>
            <a:r>
              <a:rPr sz="6800" b="1">
                <a:solidFill>
                  <a:srgbClr val="FFFFFF"/>
                </a:solidFill>
                <a:latin typeface="Arial"/>
              </a:rPr>
              <a:t>one hour ahead.</a:t>
            </a:r>
          </a:p>
        </p:txBody>
      </p:sp>
      <p:sp>
        <p:nvSpPr>
          <p:cNvPr id="11" name="TextBox 10"/>
          <p:cNvSpPr txBox="1"/>
          <p:nvPr/>
        </p:nvSpPr>
        <p:spPr>
          <a:xfrm>
            <a:off x="762000" y="3733800"/>
            <a:ext cx="8382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0">
                <a:solidFill>
                  <a:srgbClr val="BED1D2"/>
                </a:solidFill>
                <a:latin typeface="Arial"/>
              </a:rPr>
              <a:t>Can pollution history and weather improve on simply</a:t>
            </a:r>
          </a:p>
        </p:txBody>
      </p:sp>
      <p:sp>
        <p:nvSpPr>
          <p:cNvPr id="12" name="TextBox 11"/>
          <p:cNvSpPr txBox="1"/>
          <p:nvPr/>
        </p:nvSpPr>
        <p:spPr>
          <a:xfrm>
            <a:off x="762000" y="4152138"/>
            <a:ext cx="8382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0">
                <a:solidFill>
                  <a:srgbClr val="BED1D2"/>
                </a:solidFill>
                <a:latin typeface="Arial"/>
              </a:rPr>
              <a:t>repeating the latest reading?</a:t>
            </a:r>
          </a:p>
        </p:txBody>
      </p:sp>
      <p:sp>
        <p:nvSpPr>
          <p:cNvPr id="13" name="Rounded Rectangle 12"/>
          <p:cNvSpPr/>
          <p:nvPr/>
        </p:nvSpPr>
        <p:spPr>
          <a:xfrm>
            <a:off x="10477500" y="1574800"/>
            <a:ext cx="5067300" cy="4457700"/>
          </a:xfrm>
          <a:prstGeom prst="roundRect">
            <a:avLst>
              <a:gd name="adj" fmla="val 3988"/>
            </a:avLst>
          </a:prstGeom>
          <a:solidFill>
            <a:srgbClr val="1B39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95000" y="1879600"/>
            <a:ext cx="44450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3DE0B1"/>
                </a:solidFill>
                <a:latin typeface="Arial"/>
              </a:rPr>
              <a:t>THE PHASE 1 WORKFLOW</a:t>
            </a:r>
          </a:p>
        </p:txBody>
      </p:sp>
      <p:sp>
        <p:nvSpPr>
          <p:cNvPr id="15" name="TextBox 14"/>
          <p:cNvSpPr txBox="1"/>
          <p:nvPr/>
        </p:nvSpPr>
        <p:spPr>
          <a:xfrm>
            <a:off x="10795000" y="2527300"/>
            <a:ext cx="4445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FFFFFF"/>
                </a:solidFill>
                <a:latin typeface="Arial"/>
              </a:rPr>
              <a:t>01 Literature + problem framing</a:t>
            </a:r>
          </a:p>
        </p:txBody>
      </p:sp>
      <p:cxnSp>
        <p:nvCxnSpPr>
          <p:cNvPr id="16" name="Connector 15"/>
          <p:cNvCxnSpPr/>
          <p:nvPr/>
        </p:nvCxnSpPr>
        <p:spPr>
          <a:xfrm>
            <a:off x="10795000" y="2959100"/>
            <a:ext cx="4368800" cy="0"/>
          </a:xfrm>
          <a:prstGeom prst="line">
            <a:avLst/>
          </a:prstGeom>
          <a:ln w="8890">
            <a:solidFill>
              <a:srgbClr val="2C4A5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795000" y="3149600"/>
            <a:ext cx="4445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FFFFFF"/>
                </a:solidFill>
                <a:latin typeface="Arial"/>
              </a:rPr>
              <a:t>02 Data audit + training-only EDA</a:t>
            </a:r>
          </a:p>
        </p:txBody>
      </p:sp>
      <p:cxnSp>
        <p:nvCxnSpPr>
          <p:cNvPr id="18" name="Connector 17"/>
          <p:cNvCxnSpPr/>
          <p:nvPr/>
        </p:nvCxnSpPr>
        <p:spPr>
          <a:xfrm>
            <a:off x="10795000" y="3581400"/>
            <a:ext cx="4368800" cy="0"/>
          </a:xfrm>
          <a:prstGeom prst="line">
            <a:avLst/>
          </a:prstGeom>
          <a:ln w="8890">
            <a:solidFill>
              <a:srgbClr val="2C4A5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795000" y="3771900"/>
            <a:ext cx="4445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FFFFFF"/>
                </a:solidFill>
                <a:latin typeface="Arial"/>
              </a:rPr>
              <a:t>03 Features + four forecasting models</a:t>
            </a:r>
          </a:p>
        </p:txBody>
      </p:sp>
      <p:cxnSp>
        <p:nvCxnSpPr>
          <p:cNvPr id="20" name="Connector 19"/>
          <p:cNvCxnSpPr/>
          <p:nvPr/>
        </p:nvCxnSpPr>
        <p:spPr>
          <a:xfrm>
            <a:off x="10795000" y="4203700"/>
            <a:ext cx="4368800" cy="0"/>
          </a:xfrm>
          <a:prstGeom prst="line">
            <a:avLst/>
          </a:prstGeom>
          <a:ln w="8890">
            <a:solidFill>
              <a:srgbClr val="2C4A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795000" y="4394200"/>
            <a:ext cx="4445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FFFFFF"/>
                </a:solidFill>
                <a:latin typeface="Arial"/>
              </a:rPr>
              <a:t>04 Selection + rolling backtests</a:t>
            </a:r>
          </a:p>
        </p:txBody>
      </p:sp>
      <p:cxnSp>
        <p:nvCxnSpPr>
          <p:cNvPr id="22" name="Connector 21"/>
          <p:cNvCxnSpPr/>
          <p:nvPr/>
        </p:nvCxnSpPr>
        <p:spPr>
          <a:xfrm>
            <a:off x="10795000" y="4826000"/>
            <a:ext cx="4368800" cy="0"/>
          </a:xfrm>
          <a:prstGeom prst="line">
            <a:avLst/>
          </a:prstGeom>
          <a:ln w="8890">
            <a:solidFill>
              <a:srgbClr val="2C4A5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795000" y="5016500"/>
            <a:ext cx="4445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FFFFFF"/>
                </a:solidFill>
                <a:latin typeface="Arial"/>
              </a:rPr>
              <a:t>05 Diagnostics + Aircast demonstration</a:t>
            </a:r>
          </a:p>
        </p:txBody>
      </p:sp>
      <p:sp>
        <p:nvSpPr>
          <p:cNvPr id="24" name="TextBox 23"/>
          <p:cNvSpPr txBox="1"/>
          <p:nvPr/>
        </p:nvSpPr>
        <p:spPr>
          <a:xfrm>
            <a:off x="762000" y="5854700"/>
            <a:ext cx="2794000" cy="688848"/>
          </a:xfrm>
          <a:prstGeom prst="rect">
            <a:avLst/>
          </a:prstGeom>
          <a:noFill/>
        </p:spPr>
        <p:txBody>
          <a:bodyPr wrap="none" lIns="0" rIns="0" tIns="0" bIns="0" anchor="t">
            <a:spAutoFit/>
          </a:bodyPr>
          <a:lstStyle/>
          <a:p>
            <a:pPr algn="l">
              <a:lnSpc>
                <a:spcPct val="100000"/>
              </a:lnSpc>
              <a:spcBef>
                <a:spcPts val="0"/>
              </a:spcBef>
              <a:spcAft>
                <a:spcPts val="0"/>
              </a:spcAft>
            </a:pPr>
            <a:r>
              <a:rPr sz="4200" b="1">
                <a:solidFill>
                  <a:srgbClr val="3DE0B1"/>
                </a:solidFill>
                <a:latin typeface="Arial"/>
              </a:rPr>
              <a:t>43,824</a:t>
            </a:r>
          </a:p>
        </p:txBody>
      </p:sp>
      <p:sp>
        <p:nvSpPr>
          <p:cNvPr id="25" name="TextBox 24"/>
          <p:cNvSpPr txBox="1"/>
          <p:nvPr/>
        </p:nvSpPr>
        <p:spPr>
          <a:xfrm>
            <a:off x="762000" y="65659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BED1D2"/>
                </a:solidFill>
                <a:latin typeface="Arial"/>
              </a:rPr>
              <a:t>hourly records</a:t>
            </a:r>
          </a:p>
        </p:txBody>
      </p:sp>
      <p:sp>
        <p:nvSpPr>
          <p:cNvPr id="26" name="TextBox 25"/>
          <p:cNvSpPr txBox="1"/>
          <p:nvPr/>
        </p:nvSpPr>
        <p:spPr>
          <a:xfrm>
            <a:off x="3937000" y="5854700"/>
            <a:ext cx="2794000" cy="688848"/>
          </a:xfrm>
          <a:prstGeom prst="rect">
            <a:avLst/>
          </a:prstGeom>
          <a:noFill/>
        </p:spPr>
        <p:txBody>
          <a:bodyPr wrap="none" lIns="0" rIns="0" tIns="0" bIns="0" anchor="t">
            <a:spAutoFit/>
          </a:bodyPr>
          <a:lstStyle/>
          <a:p>
            <a:pPr algn="l">
              <a:lnSpc>
                <a:spcPct val="100000"/>
              </a:lnSpc>
              <a:spcBef>
                <a:spcPts val="0"/>
              </a:spcBef>
              <a:spcAft>
                <a:spcPts val="0"/>
              </a:spcAft>
            </a:pPr>
            <a:r>
              <a:rPr sz="4200" b="1">
                <a:solidFill>
                  <a:srgbClr val="3DE0B1"/>
                </a:solidFill>
                <a:latin typeface="Arial"/>
              </a:rPr>
              <a:t>4</a:t>
            </a:r>
          </a:p>
        </p:txBody>
      </p:sp>
      <p:sp>
        <p:nvSpPr>
          <p:cNvPr id="27" name="TextBox 26"/>
          <p:cNvSpPr txBox="1"/>
          <p:nvPr/>
        </p:nvSpPr>
        <p:spPr>
          <a:xfrm>
            <a:off x="3937000" y="65659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BED1D2"/>
                </a:solidFill>
                <a:latin typeface="Arial"/>
              </a:rPr>
              <a:t>models compared</a:t>
            </a:r>
          </a:p>
        </p:txBody>
      </p:sp>
      <p:sp>
        <p:nvSpPr>
          <p:cNvPr id="28" name="TextBox 27"/>
          <p:cNvSpPr txBox="1"/>
          <p:nvPr/>
        </p:nvSpPr>
        <p:spPr>
          <a:xfrm>
            <a:off x="7112000" y="5854700"/>
            <a:ext cx="2794000" cy="688848"/>
          </a:xfrm>
          <a:prstGeom prst="rect">
            <a:avLst/>
          </a:prstGeom>
          <a:noFill/>
        </p:spPr>
        <p:txBody>
          <a:bodyPr wrap="none" lIns="0" rIns="0" tIns="0" bIns="0" anchor="t">
            <a:spAutoFit/>
          </a:bodyPr>
          <a:lstStyle/>
          <a:p>
            <a:pPr algn="l">
              <a:lnSpc>
                <a:spcPct val="100000"/>
              </a:lnSpc>
              <a:spcBef>
                <a:spcPts val="0"/>
              </a:spcBef>
              <a:spcAft>
                <a:spcPts val="0"/>
              </a:spcAft>
            </a:pPr>
            <a:r>
              <a:rPr sz="4200" b="1">
                <a:solidFill>
                  <a:srgbClr val="3DE0B1"/>
                </a:solidFill>
                <a:latin typeface="Arial"/>
              </a:rPr>
              <a:t>+1 hour</a:t>
            </a:r>
          </a:p>
        </p:txBody>
      </p:sp>
      <p:sp>
        <p:nvSpPr>
          <p:cNvPr id="29" name="TextBox 28"/>
          <p:cNvSpPr txBox="1"/>
          <p:nvPr/>
        </p:nvSpPr>
        <p:spPr>
          <a:xfrm>
            <a:off x="7112000" y="65659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BED1D2"/>
                </a:solidFill>
                <a:latin typeface="Arial"/>
              </a:rPr>
              <a:t>forecast horizon</a:t>
            </a:r>
          </a:p>
        </p:txBody>
      </p:sp>
      <p:sp>
        <p:nvSpPr>
          <p:cNvPr id="30" name="TextBox 29"/>
          <p:cNvSpPr txBox="1"/>
          <p:nvPr/>
        </p:nvSpPr>
        <p:spPr>
          <a:xfrm>
            <a:off x="762000" y="7594600"/>
            <a:ext cx="14478000" cy="347980"/>
          </a:xfrm>
          <a:prstGeom prst="rect">
            <a:avLst/>
          </a:prstGeom>
          <a:noFill/>
        </p:spPr>
        <p:txBody>
          <a:bodyPr wrap="none" lIns="0" rIns="0" tIns="0" bIns="0" anchor="t">
            <a:spAutoFit/>
          </a:bodyPr>
          <a:lstStyle/>
          <a:p>
            <a:pPr algn="l">
              <a:lnSpc>
                <a:spcPct val="100000"/>
              </a:lnSpc>
              <a:spcBef>
                <a:spcPts val="0"/>
              </a:spcBef>
              <a:spcAft>
                <a:spcPts val="0"/>
              </a:spcAft>
            </a:pPr>
            <a:r>
              <a:rPr sz="2000" b="0">
                <a:solidFill>
                  <a:srgbClr val="BED1D2"/>
                </a:solidFill>
                <a:latin typeface="Arial"/>
              </a:rPr>
              <a:t>UCI Beijing · 2010–2014 · PM2.5 concentration in µg/m³</a:t>
            </a:r>
          </a:p>
        </p:txBody>
      </p:sp>
      <p:sp>
        <p:nvSpPr>
          <p:cNvPr id="31" name="TextBox 30"/>
          <p:cNvSpPr txBox="1"/>
          <p:nvPr/>
        </p:nvSpPr>
        <p:spPr>
          <a:xfrm>
            <a:off x="762000" y="8026400"/>
            <a:ext cx="14478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3DE0B1"/>
                </a:solidFill>
                <a:latin typeface="Arial"/>
              </a:rPr>
              <a:t>Measured outcome: modest pooled gains, a near tie with Ridge, and unresolved peak errors.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01 / DATASET AND CLEANING</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Preserve the clock, the gaps, and the peaks</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UCI Beijing PM2.5 · January 2010–December 2014 · pollution and airport weather use different sites.</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UCI 381; supplied CSV audit; concentration distribution uses 2010–2012 only.</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02 / 10</a:t>
            </a:r>
          </a:p>
        </p:txBody>
      </p:sp>
      <p:sp>
        <p:nvSpPr>
          <p:cNvPr id="11" name="Rounded Rectangle 10"/>
          <p:cNvSpPr/>
          <p:nvPr/>
        </p:nvSpPr>
        <p:spPr>
          <a:xfrm>
            <a:off x="7112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43,824</a:t>
            </a:r>
          </a:p>
        </p:txBody>
      </p:sp>
      <p:sp>
        <p:nvSpPr>
          <p:cNvPr id="13" name="TextBox 12"/>
          <p:cNvSpPr txBox="1"/>
          <p:nvPr/>
        </p:nvSpPr>
        <p:spPr>
          <a:xfrm>
            <a:off x="9652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Regular hourly timestamps</a:t>
            </a:r>
          </a:p>
        </p:txBody>
      </p:sp>
      <p:sp>
        <p:nvSpPr>
          <p:cNvPr id="14" name="TextBox 13"/>
          <p:cNvSpPr txBox="1"/>
          <p:nvPr/>
        </p:nvSpPr>
        <p:spPr>
          <a:xfrm>
            <a:off x="9652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0 duplicates; 0 absent timestamp rows</a:t>
            </a:r>
          </a:p>
        </p:txBody>
      </p:sp>
      <p:sp>
        <p:nvSpPr>
          <p:cNvPr id="15" name="Rounded Rectangle 14"/>
          <p:cNvSpPr/>
          <p:nvPr/>
        </p:nvSpPr>
        <p:spPr>
          <a:xfrm>
            <a:off x="57658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98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2,067</a:t>
            </a:r>
          </a:p>
        </p:txBody>
      </p:sp>
      <p:sp>
        <p:nvSpPr>
          <p:cNvPr id="17" name="TextBox 16"/>
          <p:cNvSpPr txBox="1"/>
          <p:nvPr/>
        </p:nvSpPr>
        <p:spPr>
          <a:xfrm>
            <a:off x="60198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Missing concentrations</a:t>
            </a:r>
          </a:p>
        </p:txBody>
      </p:sp>
      <p:sp>
        <p:nvSpPr>
          <p:cNvPr id="18" name="TextBox 17"/>
          <p:cNvSpPr txBox="1"/>
          <p:nvPr/>
        </p:nvSpPr>
        <p:spPr>
          <a:xfrm>
            <a:off x="60198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4.72% of the archive; weather complete</a:t>
            </a:r>
          </a:p>
        </p:txBody>
      </p:sp>
      <p:sp>
        <p:nvSpPr>
          <p:cNvPr id="19" name="Rounded Rectangle 18"/>
          <p:cNvSpPr/>
          <p:nvPr/>
        </p:nvSpPr>
        <p:spPr>
          <a:xfrm>
            <a:off x="108204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744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155 h</a:t>
            </a:r>
          </a:p>
        </p:txBody>
      </p:sp>
      <p:sp>
        <p:nvSpPr>
          <p:cNvPr id="21" name="TextBox 20"/>
          <p:cNvSpPr txBox="1"/>
          <p:nvPr/>
        </p:nvSpPr>
        <p:spPr>
          <a:xfrm>
            <a:off x="110744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Longest missing run</a:t>
            </a:r>
          </a:p>
        </p:txBody>
      </p:sp>
      <p:sp>
        <p:nvSpPr>
          <p:cNvPr id="22" name="TextBox 21"/>
          <p:cNvSpPr txBox="1"/>
          <p:nvPr/>
        </p:nvSpPr>
        <p:spPr>
          <a:xfrm>
            <a:off x="110744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214 concentration-gap runs in total</a:t>
            </a:r>
          </a:p>
        </p:txBody>
      </p:sp>
      <p:sp>
        <p:nvSpPr>
          <p:cNvPr id="23" name="Rounded Rectangle 22"/>
          <p:cNvSpPr/>
          <p:nvPr/>
        </p:nvSpPr>
        <p:spPr>
          <a:xfrm>
            <a:off x="711200" y="3924300"/>
            <a:ext cx="7264400" cy="3835400"/>
          </a:xfrm>
          <a:prstGeom prst="roundRect">
            <a:avLst>
              <a:gd name="adj" fmla="val 33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200" y="41402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Training concentration distribution</a:t>
            </a:r>
          </a:p>
        </p:txBody>
      </p:sp>
      <p:pic>
        <p:nvPicPr>
          <p:cNvPr id="25" name="Picture 24" descr="training_distribution.png"/>
          <p:cNvPicPr>
            <a:picLocks noChangeAspect="1"/>
          </p:cNvPicPr>
          <p:nvPr/>
        </p:nvPicPr>
        <p:blipFill>
          <a:blip r:embed="rId2"/>
          <a:stretch>
            <a:fillRect/>
          </a:stretch>
        </p:blipFill>
        <p:spPr>
          <a:xfrm>
            <a:off x="946484" y="4508500"/>
            <a:ext cx="6793831" cy="3073399"/>
          </a:xfrm>
          <a:prstGeom prst="rect">
            <a:avLst/>
          </a:prstGeom>
        </p:spPr>
      </p:pic>
      <p:sp>
        <p:nvSpPr>
          <p:cNvPr id="26" name="Rounded Rectangle 25"/>
          <p:cNvSpPr/>
          <p:nvPr/>
        </p:nvSpPr>
        <p:spPr>
          <a:xfrm>
            <a:off x="8280400" y="3924300"/>
            <a:ext cx="7264400" cy="3835400"/>
          </a:xfrm>
          <a:prstGeom prst="roundRect">
            <a:avLst>
              <a:gd name="adj" fmla="val 331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34400" y="41402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Missingness varies by year</a:t>
            </a:r>
          </a:p>
        </p:txBody>
      </p:sp>
      <p:pic>
        <p:nvPicPr>
          <p:cNvPr id="28" name="Picture 27" descr="missingness_by_year.png"/>
          <p:cNvPicPr>
            <a:picLocks noChangeAspect="1"/>
          </p:cNvPicPr>
          <p:nvPr/>
        </p:nvPicPr>
        <p:blipFill>
          <a:blip r:embed="rId3"/>
          <a:stretch>
            <a:fillRect/>
          </a:stretch>
        </p:blipFill>
        <p:spPr>
          <a:xfrm>
            <a:off x="8893119" y="4508500"/>
            <a:ext cx="6038961" cy="3073399"/>
          </a:xfrm>
          <a:prstGeom prst="rect">
            <a:avLst/>
          </a:prstGeom>
        </p:spPr>
      </p:pic>
      <p:sp>
        <p:nvSpPr>
          <p:cNvPr id="29" name="TextBox 28"/>
          <p:cNvSpPr txBox="1"/>
          <p:nvPr/>
        </p:nvSpPr>
        <p:spPr>
          <a:xfrm>
            <a:off x="762000" y="8013700"/>
            <a:ext cx="146685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087E64"/>
                </a:solidFill>
                <a:latin typeface="Arial"/>
              </a:rPr>
              <a:t>Cleaning: validate schema and dates → preserve hourly slots → retain valid peaks → exclude row ID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02 / WHAT TRAINING-ONLY EDA TELLS US</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Recent history is the strongest starting point</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All three graphs use 2010–2012 only; associations guide candidate features, not causal claims.</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Training autocorrelation, hourly profiles and Pearson correlations; saved EDA outputs.</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03 / 10</a:t>
            </a:r>
          </a:p>
        </p:txBody>
      </p:sp>
      <p:sp>
        <p:nvSpPr>
          <p:cNvPr id="11" name="Rounded Rectangle 10"/>
          <p:cNvSpPr/>
          <p:nvPr/>
        </p:nvSpPr>
        <p:spPr>
          <a:xfrm>
            <a:off x="711200" y="2654300"/>
            <a:ext cx="4724400" cy="4648200"/>
          </a:xfrm>
          <a:prstGeom prst="roundRect">
            <a:avLst>
              <a:gd name="adj" fmla="val 273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2870200"/>
            <a:ext cx="421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Temporal dependence</a:t>
            </a:r>
          </a:p>
        </p:txBody>
      </p:sp>
      <p:pic>
        <p:nvPicPr>
          <p:cNvPr id="13" name="Picture 12" descr="training_autocorrelation.png"/>
          <p:cNvPicPr>
            <a:picLocks noChangeAspect="1"/>
          </p:cNvPicPr>
          <p:nvPr/>
        </p:nvPicPr>
        <p:blipFill>
          <a:blip r:embed="rId2"/>
          <a:stretch>
            <a:fillRect/>
          </a:stretch>
        </p:blipFill>
        <p:spPr>
          <a:xfrm>
            <a:off x="863600" y="3466782"/>
            <a:ext cx="4419600" cy="3480434"/>
          </a:xfrm>
          <a:prstGeom prst="rect">
            <a:avLst/>
          </a:prstGeom>
        </p:spPr>
      </p:pic>
      <p:sp>
        <p:nvSpPr>
          <p:cNvPr id="14" name="Rounded Rectangle 13"/>
          <p:cNvSpPr/>
          <p:nvPr/>
        </p:nvSpPr>
        <p:spPr>
          <a:xfrm>
            <a:off x="5765800" y="2654300"/>
            <a:ext cx="4724400" cy="4648200"/>
          </a:xfrm>
          <a:prstGeom prst="roundRect">
            <a:avLst>
              <a:gd name="adj" fmla="val 273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800" y="2870200"/>
            <a:ext cx="421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Average daily pattern</a:t>
            </a:r>
          </a:p>
        </p:txBody>
      </p:sp>
      <p:pic>
        <p:nvPicPr>
          <p:cNvPr id="16" name="Picture 15" descr="training_hourly_profile.png"/>
          <p:cNvPicPr>
            <a:picLocks noChangeAspect="1"/>
          </p:cNvPicPr>
          <p:nvPr/>
        </p:nvPicPr>
        <p:blipFill>
          <a:blip r:embed="rId3"/>
          <a:stretch>
            <a:fillRect/>
          </a:stretch>
        </p:blipFill>
        <p:spPr>
          <a:xfrm>
            <a:off x="5918200" y="3466782"/>
            <a:ext cx="4419600" cy="3480434"/>
          </a:xfrm>
          <a:prstGeom prst="rect">
            <a:avLst/>
          </a:prstGeom>
        </p:spPr>
      </p:pic>
      <p:sp>
        <p:nvSpPr>
          <p:cNvPr id="17" name="Rounded Rectangle 16"/>
          <p:cNvSpPr/>
          <p:nvPr/>
        </p:nvSpPr>
        <p:spPr>
          <a:xfrm>
            <a:off x="10820400" y="2654300"/>
            <a:ext cx="4724400" cy="4648200"/>
          </a:xfrm>
          <a:prstGeom prst="roundRect">
            <a:avLst>
              <a:gd name="adj" fmla="val 273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74400" y="2870200"/>
            <a:ext cx="421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Weather associations</a:t>
            </a:r>
          </a:p>
        </p:txBody>
      </p:sp>
      <p:pic>
        <p:nvPicPr>
          <p:cNvPr id="19" name="Picture 18" descr="training_weather_correlations.png"/>
          <p:cNvPicPr>
            <a:picLocks noChangeAspect="1"/>
          </p:cNvPicPr>
          <p:nvPr/>
        </p:nvPicPr>
        <p:blipFill>
          <a:blip r:embed="rId4"/>
          <a:stretch>
            <a:fillRect/>
          </a:stretch>
        </p:blipFill>
        <p:spPr>
          <a:xfrm>
            <a:off x="10972800" y="3466782"/>
            <a:ext cx="4419600" cy="3480434"/>
          </a:xfrm>
          <a:prstGeom prst="rect">
            <a:avLst/>
          </a:prstGeom>
        </p:spPr>
      </p:pic>
      <p:sp>
        <p:nvSpPr>
          <p:cNvPr id="20" name="Rounded Rectangle 19"/>
          <p:cNvSpPr/>
          <p:nvPr/>
        </p:nvSpPr>
        <p:spPr>
          <a:xfrm>
            <a:off x="711200" y="7505700"/>
            <a:ext cx="4724400" cy="812800"/>
          </a:xfrm>
          <a:prstGeom prst="roundRect">
            <a:avLst>
              <a:gd name="adj" fmla="val 125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6300" y="7607300"/>
            <a:ext cx="43942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Take persistence seriously</a:t>
            </a:r>
          </a:p>
        </p:txBody>
      </p:sp>
      <p:sp>
        <p:nvSpPr>
          <p:cNvPr id="22" name="TextBox 21"/>
          <p:cNvSpPr txBox="1"/>
          <p:nvPr/>
        </p:nvSpPr>
        <p:spPr>
          <a:xfrm>
            <a:off x="876300" y="7924800"/>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1-hour ACF 0.961; 24-hour 0.394.</a:t>
            </a:r>
          </a:p>
        </p:txBody>
      </p:sp>
      <p:sp>
        <p:nvSpPr>
          <p:cNvPr id="23" name="TextBox 22"/>
          <p:cNvSpPr txBox="1"/>
          <p:nvPr/>
        </p:nvSpPr>
        <p:spPr>
          <a:xfrm>
            <a:off x="876300" y="8126222"/>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A weekly dependency is not established.</a:t>
            </a:r>
          </a:p>
        </p:txBody>
      </p:sp>
      <p:sp>
        <p:nvSpPr>
          <p:cNvPr id="24" name="Rounded Rectangle 23"/>
          <p:cNvSpPr/>
          <p:nvPr/>
        </p:nvSpPr>
        <p:spPr>
          <a:xfrm>
            <a:off x="5765800" y="7505700"/>
            <a:ext cx="4724400" cy="812800"/>
          </a:xfrm>
          <a:prstGeom prst="roundRect">
            <a:avLst>
              <a:gd name="adj" fmla="val 125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30900" y="7607300"/>
            <a:ext cx="43942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Encode the clock cyclically</a:t>
            </a:r>
          </a:p>
        </p:txBody>
      </p:sp>
      <p:sp>
        <p:nvSpPr>
          <p:cNvPr id="26" name="TextBox 25"/>
          <p:cNvSpPr txBox="1"/>
          <p:nvPr/>
        </p:nvSpPr>
        <p:spPr>
          <a:xfrm>
            <a:off x="5930900" y="7924800"/>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The pooled mean peaks at 01:00.</a:t>
            </a:r>
          </a:p>
        </p:txBody>
      </p:sp>
      <p:sp>
        <p:nvSpPr>
          <p:cNvPr id="27" name="TextBox 26"/>
          <p:cNvSpPr txBox="1"/>
          <p:nvPr/>
        </p:nvSpPr>
        <p:spPr>
          <a:xfrm>
            <a:off x="5930900" y="8126222"/>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Averages do not predict each event.</a:t>
            </a:r>
          </a:p>
        </p:txBody>
      </p:sp>
      <p:sp>
        <p:nvSpPr>
          <p:cNvPr id="28" name="Rounded Rectangle 27"/>
          <p:cNvSpPr/>
          <p:nvPr/>
        </p:nvSpPr>
        <p:spPr>
          <a:xfrm>
            <a:off x="10820400" y="7505700"/>
            <a:ext cx="4724400" cy="812800"/>
          </a:xfrm>
          <a:prstGeom prst="roundRect">
            <a:avLst>
              <a:gd name="adj" fmla="val 1250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85500" y="7607300"/>
            <a:ext cx="43942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Validate the extra information</a:t>
            </a:r>
          </a:p>
        </p:txBody>
      </p:sp>
      <p:sp>
        <p:nvSpPr>
          <p:cNvPr id="30" name="TextBox 29"/>
          <p:cNvSpPr txBox="1"/>
          <p:nvPr/>
        </p:nvSpPr>
        <p:spPr>
          <a:xfrm>
            <a:off x="10985500" y="7924800"/>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Wind r = −0.264; dew point +0.245.</a:t>
            </a:r>
          </a:p>
        </p:txBody>
      </p:sp>
      <p:sp>
        <p:nvSpPr>
          <p:cNvPr id="31" name="TextBox 30"/>
          <p:cNvSpPr txBox="1"/>
          <p:nvPr/>
        </p:nvSpPr>
        <p:spPr>
          <a:xfrm>
            <a:off x="10985500" y="8126222"/>
            <a:ext cx="43942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Correlation alone does not imply cause.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03 / FEATURES AND MODEL FORMULATION</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Build one forecast row without future information</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Predict y(t + 1) from measured history through t · 70 raw columns → 73 with the four observed wind categories.</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CSAI PROJECT 19 / PHASE 1 · MACHINE LEARNING</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04 / 10</a:t>
            </a:r>
          </a:p>
        </p:txBody>
      </p:sp>
      <p:sp>
        <p:nvSpPr>
          <p:cNvPr id="11" name="Rounded Rectangle 10"/>
          <p:cNvSpPr/>
          <p:nvPr/>
        </p:nvSpPr>
        <p:spPr>
          <a:xfrm>
            <a:off x="711200" y="2641600"/>
            <a:ext cx="14833600" cy="914400"/>
          </a:xfrm>
          <a:prstGeom prst="roundRect">
            <a:avLst>
              <a:gd name="adj" fmla="val 13888"/>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7900" y="2819400"/>
            <a:ext cx="3937000" cy="347980"/>
          </a:xfrm>
          <a:prstGeom prst="rect">
            <a:avLst/>
          </a:prstGeom>
          <a:noFill/>
        </p:spPr>
        <p:txBody>
          <a:bodyPr wrap="none" lIns="0" rIns="0" tIns="0" bIns="0" anchor="t">
            <a:spAutoFit/>
          </a:bodyPr>
          <a:lstStyle/>
          <a:p>
            <a:pPr algn="l">
              <a:lnSpc>
                <a:spcPct val="100000"/>
              </a:lnSpc>
              <a:spcBef>
                <a:spcPts val="0"/>
              </a:spcBef>
              <a:spcAft>
                <a:spcPts val="0"/>
              </a:spcAft>
            </a:pPr>
            <a:r>
              <a:rPr sz="2000" b="1">
                <a:solidFill>
                  <a:srgbClr val="3DE0B1"/>
                </a:solidFill>
                <a:latin typeface="Arial"/>
              </a:rPr>
              <a:t>ORIGIN t = 10:00</a:t>
            </a:r>
          </a:p>
        </p:txBody>
      </p:sp>
      <p:sp>
        <p:nvSpPr>
          <p:cNvPr id="13" name="TextBox 12"/>
          <p:cNvSpPr txBox="1"/>
          <p:nvPr/>
        </p:nvSpPr>
        <p:spPr>
          <a:xfrm>
            <a:off x="977900" y="3187700"/>
            <a:ext cx="8001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Observed PM2.5 + weather + trailing history</a:t>
            </a:r>
          </a:p>
        </p:txBody>
      </p:sp>
      <p:sp>
        <p:nvSpPr>
          <p:cNvPr id="14" name="TextBox 13"/>
          <p:cNvSpPr txBox="1"/>
          <p:nvPr/>
        </p:nvSpPr>
        <p:spPr>
          <a:xfrm>
            <a:off x="9613900" y="2844800"/>
            <a:ext cx="825500" cy="595884"/>
          </a:xfrm>
          <a:prstGeom prst="rect">
            <a:avLst/>
          </a:prstGeom>
          <a:noFill/>
        </p:spPr>
        <p:txBody>
          <a:bodyPr wrap="none" lIns="0" rIns="0" tIns="0" bIns="0" anchor="t">
            <a:spAutoFit/>
          </a:bodyPr>
          <a:lstStyle/>
          <a:p>
            <a:pPr algn="l">
              <a:lnSpc>
                <a:spcPct val="100000"/>
              </a:lnSpc>
              <a:spcBef>
                <a:spcPts val="0"/>
              </a:spcBef>
              <a:spcAft>
                <a:spcPts val="0"/>
              </a:spcAft>
            </a:pPr>
            <a:r>
              <a:rPr sz="3600" b="1">
                <a:solidFill>
                  <a:srgbClr val="3DE0B1"/>
                </a:solidFill>
                <a:latin typeface="Arial"/>
              </a:rPr>
              <a:t>→</a:t>
            </a:r>
          </a:p>
        </p:txBody>
      </p:sp>
      <p:sp>
        <p:nvSpPr>
          <p:cNvPr id="15" name="TextBox 14"/>
          <p:cNvSpPr txBox="1"/>
          <p:nvPr/>
        </p:nvSpPr>
        <p:spPr>
          <a:xfrm>
            <a:off x="10922000" y="2819400"/>
            <a:ext cx="4356100" cy="347980"/>
          </a:xfrm>
          <a:prstGeom prst="rect">
            <a:avLst/>
          </a:prstGeom>
          <a:noFill/>
        </p:spPr>
        <p:txBody>
          <a:bodyPr wrap="none" lIns="0" rIns="0" tIns="0" bIns="0" anchor="t">
            <a:spAutoFit/>
          </a:bodyPr>
          <a:lstStyle/>
          <a:p>
            <a:pPr algn="l">
              <a:lnSpc>
                <a:spcPct val="100000"/>
              </a:lnSpc>
              <a:spcBef>
                <a:spcPts val="0"/>
              </a:spcBef>
              <a:spcAft>
                <a:spcPts val="0"/>
              </a:spcAft>
            </a:pPr>
            <a:r>
              <a:rPr sz="2000" b="1">
                <a:solidFill>
                  <a:srgbClr val="FFFFFF"/>
                </a:solidFill>
                <a:latin typeface="Arial"/>
              </a:rPr>
              <a:t>TARGET t + 1 = 11:00</a:t>
            </a:r>
          </a:p>
        </p:txBody>
      </p:sp>
      <p:sp>
        <p:nvSpPr>
          <p:cNvPr id="16" name="TextBox 15"/>
          <p:cNvSpPr txBox="1"/>
          <p:nvPr/>
        </p:nvSpPr>
        <p:spPr>
          <a:xfrm>
            <a:off x="10922000" y="3187700"/>
            <a:ext cx="4356100" cy="270510"/>
          </a:xfrm>
          <a:prstGeom prst="rect">
            <a:avLst/>
          </a:prstGeom>
          <a:noFill/>
        </p:spPr>
        <p:txBody>
          <a:bodyPr wrap="none" lIns="0" rIns="0" tIns="0" bIns="0" anchor="t">
            <a:spAutoFit/>
          </a:bodyPr>
          <a:lstStyle/>
          <a:p>
            <a:pPr algn="l">
              <a:lnSpc>
                <a:spcPct val="100000"/>
              </a:lnSpc>
              <a:spcBef>
                <a:spcPts val="0"/>
              </a:spcBef>
              <a:spcAft>
                <a:spcPts val="0"/>
              </a:spcAft>
            </a:pPr>
            <a:r>
              <a:rPr sz="1500" b="0">
                <a:solidFill>
                  <a:srgbClr val="BED1D2"/>
                </a:solidFill>
                <a:latin typeface="Arial"/>
              </a:rPr>
              <a:t>Only the future calendar is already known</a:t>
            </a:r>
          </a:p>
        </p:txBody>
      </p:sp>
      <p:sp>
        <p:nvSpPr>
          <p:cNvPr id="17" name="Rounded Rectangle 16"/>
          <p:cNvSpPr/>
          <p:nvPr/>
        </p:nvSpPr>
        <p:spPr>
          <a:xfrm>
            <a:off x="711200" y="3822700"/>
            <a:ext cx="7264400" cy="3848100"/>
          </a:xfrm>
          <a:prstGeom prst="roundRect">
            <a:avLst>
              <a:gd name="adj" fmla="val 33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5200" y="40386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Four feature groups</a:t>
            </a:r>
          </a:p>
        </p:txBody>
      </p:sp>
      <p:sp>
        <p:nvSpPr>
          <p:cNvPr id="19" name="TextBox 18"/>
          <p:cNvSpPr txBox="1"/>
          <p:nvPr/>
        </p:nvSpPr>
        <p:spPr>
          <a:xfrm>
            <a:off x="952500" y="4445000"/>
            <a:ext cx="609600" cy="409956"/>
          </a:xfrm>
          <a:prstGeom prst="rect">
            <a:avLst/>
          </a:prstGeom>
          <a:noFill/>
        </p:spPr>
        <p:txBody>
          <a:bodyPr wrap="none" lIns="0" rIns="0" tIns="0" bIns="0" anchor="t">
            <a:spAutoFit/>
          </a:bodyPr>
          <a:lstStyle/>
          <a:p>
            <a:pPr algn="l">
              <a:lnSpc>
                <a:spcPct val="100000"/>
              </a:lnSpc>
              <a:spcBef>
                <a:spcPts val="0"/>
              </a:spcBef>
              <a:spcAft>
                <a:spcPts val="0"/>
              </a:spcAft>
            </a:pPr>
            <a:r>
              <a:rPr sz="2400" b="1">
                <a:solidFill>
                  <a:srgbClr val="087E64"/>
                </a:solidFill>
                <a:latin typeface="Arial"/>
              </a:rPr>
              <a:t>20</a:t>
            </a:r>
          </a:p>
        </p:txBody>
      </p:sp>
      <p:sp>
        <p:nvSpPr>
          <p:cNvPr id="20" name="TextBox 19"/>
          <p:cNvSpPr txBox="1"/>
          <p:nvPr/>
        </p:nvSpPr>
        <p:spPr>
          <a:xfrm>
            <a:off x="1778000" y="4445000"/>
            <a:ext cx="58928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Pollution lags + missingness</a:t>
            </a:r>
          </a:p>
        </p:txBody>
      </p:sp>
      <p:sp>
        <p:nvSpPr>
          <p:cNvPr id="21" name="TextBox 20"/>
          <p:cNvSpPr txBox="1"/>
          <p:nvPr/>
        </p:nvSpPr>
        <p:spPr>
          <a:xfrm>
            <a:off x="1778000" y="4787900"/>
            <a:ext cx="5892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Offsets 0, 1, 2, 3, 6, 12, 24, 48, 72, 168 h</a:t>
            </a:r>
          </a:p>
        </p:txBody>
      </p:sp>
      <p:cxnSp>
        <p:nvCxnSpPr>
          <p:cNvPr id="22" name="Connector 21"/>
          <p:cNvCxnSpPr/>
          <p:nvPr/>
        </p:nvCxnSpPr>
        <p:spPr>
          <a:xfrm>
            <a:off x="952500" y="5105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52500" y="5207000"/>
            <a:ext cx="609600" cy="409956"/>
          </a:xfrm>
          <a:prstGeom prst="rect">
            <a:avLst/>
          </a:prstGeom>
          <a:noFill/>
        </p:spPr>
        <p:txBody>
          <a:bodyPr wrap="none" lIns="0" rIns="0" tIns="0" bIns="0" anchor="t">
            <a:spAutoFit/>
          </a:bodyPr>
          <a:lstStyle/>
          <a:p>
            <a:pPr algn="l">
              <a:lnSpc>
                <a:spcPct val="100000"/>
              </a:lnSpc>
              <a:spcBef>
                <a:spcPts val="0"/>
              </a:spcBef>
              <a:spcAft>
                <a:spcPts val="0"/>
              </a:spcAft>
            </a:pPr>
            <a:r>
              <a:rPr sz="2400" b="1">
                <a:solidFill>
                  <a:srgbClr val="087E64"/>
                </a:solidFill>
                <a:latin typeface="Arial"/>
              </a:rPr>
              <a:t>18</a:t>
            </a:r>
          </a:p>
        </p:txBody>
      </p:sp>
      <p:sp>
        <p:nvSpPr>
          <p:cNvPr id="24" name="TextBox 23"/>
          <p:cNvSpPr txBox="1"/>
          <p:nvPr/>
        </p:nvSpPr>
        <p:spPr>
          <a:xfrm>
            <a:off x="1778000" y="5207000"/>
            <a:ext cx="58928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Trailing statistics</a:t>
            </a:r>
          </a:p>
        </p:txBody>
      </p:sp>
      <p:sp>
        <p:nvSpPr>
          <p:cNvPr id="25" name="TextBox 24"/>
          <p:cNvSpPr txBox="1"/>
          <p:nvPr/>
        </p:nvSpPr>
        <p:spPr>
          <a:xfrm>
            <a:off x="1778000" y="5549900"/>
            <a:ext cx="5892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3, 6, 12, 24, 72, 168 h: mean, std, observed fraction</a:t>
            </a:r>
          </a:p>
        </p:txBody>
      </p:sp>
      <p:cxnSp>
        <p:nvCxnSpPr>
          <p:cNvPr id="26" name="Connector 25"/>
          <p:cNvCxnSpPr/>
          <p:nvPr/>
        </p:nvCxnSpPr>
        <p:spPr>
          <a:xfrm>
            <a:off x="952500" y="5867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52500" y="5969000"/>
            <a:ext cx="609600" cy="409956"/>
          </a:xfrm>
          <a:prstGeom prst="rect">
            <a:avLst/>
          </a:prstGeom>
          <a:noFill/>
        </p:spPr>
        <p:txBody>
          <a:bodyPr wrap="none" lIns="0" rIns="0" tIns="0" bIns="0" anchor="t">
            <a:spAutoFit/>
          </a:bodyPr>
          <a:lstStyle/>
          <a:p>
            <a:pPr algn="l">
              <a:lnSpc>
                <a:spcPct val="100000"/>
              </a:lnSpc>
              <a:spcBef>
                <a:spcPts val="0"/>
              </a:spcBef>
              <a:spcAft>
                <a:spcPts val="0"/>
              </a:spcAft>
            </a:pPr>
            <a:r>
              <a:rPr sz="2400" b="1">
                <a:solidFill>
                  <a:srgbClr val="087E64"/>
                </a:solidFill>
                <a:latin typeface="Arial"/>
              </a:rPr>
              <a:t>7</a:t>
            </a:r>
          </a:p>
        </p:txBody>
      </p:sp>
      <p:sp>
        <p:nvSpPr>
          <p:cNvPr id="28" name="TextBox 27"/>
          <p:cNvSpPr txBox="1"/>
          <p:nvPr/>
        </p:nvSpPr>
        <p:spPr>
          <a:xfrm>
            <a:off x="1778000" y="5969000"/>
            <a:ext cx="58928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Known target calendar</a:t>
            </a:r>
          </a:p>
        </p:txBody>
      </p:sp>
      <p:sp>
        <p:nvSpPr>
          <p:cNvPr id="29" name="TextBox 28"/>
          <p:cNvSpPr txBox="1"/>
          <p:nvPr/>
        </p:nvSpPr>
        <p:spPr>
          <a:xfrm>
            <a:off x="1778000" y="6311900"/>
            <a:ext cx="5892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Hour / weekday / month sine–cosine + weekend</a:t>
            </a:r>
          </a:p>
        </p:txBody>
      </p:sp>
      <p:cxnSp>
        <p:nvCxnSpPr>
          <p:cNvPr id="30" name="Connector 29"/>
          <p:cNvCxnSpPr/>
          <p:nvPr/>
        </p:nvCxnSpPr>
        <p:spPr>
          <a:xfrm>
            <a:off x="952500" y="6629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52500" y="6731000"/>
            <a:ext cx="609600" cy="409956"/>
          </a:xfrm>
          <a:prstGeom prst="rect">
            <a:avLst/>
          </a:prstGeom>
          <a:noFill/>
        </p:spPr>
        <p:txBody>
          <a:bodyPr wrap="none" lIns="0" rIns="0" tIns="0" bIns="0" anchor="t">
            <a:spAutoFit/>
          </a:bodyPr>
          <a:lstStyle/>
          <a:p>
            <a:pPr algn="l">
              <a:lnSpc>
                <a:spcPct val="100000"/>
              </a:lnSpc>
              <a:spcBef>
                <a:spcPts val="0"/>
              </a:spcBef>
              <a:spcAft>
                <a:spcPts val="0"/>
              </a:spcAft>
            </a:pPr>
            <a:r>
              <a:rPr sz="2400" b="1">
                <a:solidFill>
                  <a:srgbClr val="087E64"/>
                </a:solidFill>
                <a:latin typeface="Arial"/>
              </a:rPr>
              <a:t>25</a:t>
            </a:r>
          </a:p>
        </p:txBody>
      </p:sp>
      <p:sp>
        <p:nvSpPr>
          <p:cNvPr id="32" name="TextBox 31"/>
          <p:cNvSpPr txBox="1"/>
          <p:nvPr/>
        </p:nvSpPr>
        <p:spPr>
          <a:xfrm>
            <a:off x="1778000" y="6731000"/>
            <a:ext cx="58928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Weather + wind direction</a:t>
            </a:r>
          </a:p>
        </p:txBody>
      </p:sp>
      <p:sp>
        <p:nvSpPr>
          <p:cNvPr id="33" name="TextBox 32"/>
          <p:cNvSpPr txBox="1"/>
          <p:nvPr/>
        </p:nvSpPr>
        <p:spPr>
          <a:xfrm>
            <a:off x="1778000" y="7073900"/>
            <a:ext cx="5892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0">
                <a:solidFill>
                  <a:srgbClr val="526774"/>
                </a:solidFill>
                <a:latin typeface="Arial"/>
              </a:rPr>
              <a:t>6 weather fields at 0 / 1 / 24 h; flags + wind encoding</a:t>
            </a:r>
          </a:p>
        </p:txBody>
      </p:sp>
      <p:sp>
        <p:nvSpPr>
          <p:cNvPr id="34" name="Rounded Rectangle 33"/>
          <p:cNvSpPr/>
          <p:nvPr/>
        </p:nvSpPr>
        <p:spPr>
          <a:xfrm>
            <a:off x="8280400" y="3822700"/>
            <a:ext cx="7264400" cy="3848100"/>
          </a:xfrm>
          <a:prstGeom prst="roundRect">
            <a:avLst>
              <a:gd name="adj" fmla="val 33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34400" y="40386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Four models, one target</a:t>
            </a:r>
          </a:p>
        </p:txBody>
      </p:sp>
      <p:sp>
        <p:nvSpPr>
          <p:cNvPr id="36" name="TextBox 35"/>
          <p:cNvSpPr txBox="1"/>
          <p:nvPr/>
        </p:nvSpPr>
        <p:spPr>
          <a:xfrm>
            <a:off x="8534400" y="44450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Persistence</a:t>
            </a:r>
          </a:p>
        </p:txBody>
      </p:sp>
      <p:sp>
        <p:nvSpPr>
          <p:cNvPr id="37" name="TextBox 36"/>
          <p:cNvSpPr txBox="1"/>
          <p:nvPr/>
        </p:nvSpPr>
        <p:spPr>
          <a:xfrm>
            <a:off x="11480800" y="4445000"/>
            <a:ext cx="3810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0">
                <a:solidFill>
                  <a:srgbClr val="087E64"/>
                </a:solidFill>
                <a:latin typeface="Arial"/>
              </a:rPr>
              <a:t>ŷ(t + 1) = y(t)</a:t>
            </a:r>
          </a:p>
        </p:txBody>
      </p:sp>
      <p:sp>
        <p:nvSpPr>
          <p:cNvPr id="38" name="TextBox 37"/>
          <p:cNvSpPr txBox="1"/>
          <p:nvPr/>
        </p:nvSpPr>
        <p:spPr>
          <a:xfrm>
            <a:off x="8534400" y="47879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Strong latest-reading reference</a:t>
            </a:r>
          </a:p>
        </p:txBody>
      </p:sp>
      <p:cxnSp>
        <p:nvCxnSpPr>
          <p:cNvPr id="39" name="Connector 38"/>
          <p:cNvCxnSpPr/>
          <p:nvPr/>
        </p:nvCxnSpPr>
        <p:spPr>
          <a:xfrm>
            <a:off x="8534400" y="5105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534400" y="52070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Daily seasonal naive</a:t>
            </a:r>
          </a:p>
        </p:txBody>
      </p:sp>
      <p:sp>
        <p:nvSpPr>
          <p:cNvPr id="41" name="TextBox 40"/>
          <p:cNvSpPr txBox="1"/>
          <p:nvPr/>
        </p:nvSpPr>
        <p:spPr>
          <a:xfrm>
            <a:off x="11480800" y="5207000"/>
            <a:ext cx="3810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0">
                <a:solidFill>
                  <a:srgbClr val="087E64"/>
                </a:solidFill>
                <a:latin typeface="Arial"/>
              </a:rPr>
              <a:t>ŷ(t + 1) = y(t − 23)</a:t>
            </a:r>
          </a:p>
        </p:txBody>
      </p:sp>
      <p:sp>
        <p:nvSpPr>
          <p:cNvPr id="42" name="TextBox 41"/>
          <p:cNvSpPr txBox="1"/>
          <p:nvPr/>
        </p:nvSpPr>
        <p:spPr>
          <a:xfrm>
            <a:off x="8534400" y="55499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Same target hour on the previous day</a:t>
            </a:r>
          </a:p>
        </p:txBody>
      </p:sp>
      <p:cxnSp>
        <p:nvCxnSpPr>
          <p:cNvPr id="43" name="Connector 42"/>
          <p:cNvCxnSpPr/>
          <p:nvPr/>
        </p:nvCxnSpPr>
        <p:spPr>
          <a:xfrm>
            <a:off x="8534400" y="5867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534400" y="59690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Ridge regression</a:t>
            </a:r>
          </a:p>
        </p:txBody>
      </p:sp>
      <p:sp>
        <p:nvSpPr>
          <p:cNvPr id="45" name="TextBox 44"/>
          <p:cNvSpPr txBox="1"/>
          <p:nvPr/>
        </p:nvSpPr>
        <p:spPr>
          <a:xfrm>
            <a:off x="11480800" y="5969000"/>
            <a:ext cx="3810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0">
                <a:solidFill>
                  <a:srgbClr val="087E64"/>
                </a:solidFill>
                <a:latin typeface="Arial"/>
              </a:rPr>
              <a:t>Squared error + L2 penalty (α = 10)</a:t>
            </a:r>
          </a:p>
        </p:txBody>
      </p:sp>
      <p:sp>
        <p:nvSpPr>
          <p:cNvPr id="46" name="TextBox 45"/>
          <p:cNvSpPr txBox="1"/>
          <p:nvPr/>
        </p:nvSpPr>
        <p:spPr>
          <a:xfrm>
            <a:off x="8534400" y="63119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Fold-fitted median imputation and scaling</a:t>
            </a:r>
          </a:p>
        </p:txBody>
      </p:sp>
      <p:cxnSp>
        <p:nvCxnSpPr>
          <p:cNvPr id="47" name="Connector 46"/>
          <p:cNvCxnSpPr/>
          <p:nvPr/>
        </p:nvCxnSpPr>
        <p:spPr>
          <a:xfrm>
            <a:off x="8534400" y="6629400"/>
            <a:ext cx="6756400" cy="0"/>
          </a:xfrm>
          <a:prstGeom prst="line">
            <a:avLst/>
          </a:prstGeom>
          <a:ln w="8890">
            <a:solidFill>
              <a:srgbClr val="D4DDD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534400" y="6731000"/>
            <a:ext cx="2794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XGBoost</a:t>
            </a:r>
          </a:p>
        </p:txBody>
      </p:sp>
      <p:sp>
        <p:nvSpPr>
          <p:cNvPr id="49" name="TextBox 48"/>
          <p:cNvSpPr txBox="1"/>
          <p:nvPr/>
        </p:nvSpPr>
        <p:spPr>
          <a:xfrm>
            <a:off x="11480800" y="6731000"/>
            <a:ext cx="3810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0">
                <a:solidFill>
                  <a:srgbClr val="087E64"/>
                </a:solidFill>
                <a:latin typeface="Arial"/>
              </a:rPr>
              <a:t>Additive trees + complexity penalty</a:t>
            </a:r>
          </a:p>
        </p:txBody>
      </p:sp>
      <p:sp>
        <p:nvSpPr>
          <p:cNvPr id="50" name="TextBox 49"/>
          <p:cNvSpPr txBox="1"/>
          <p:nvPr/>
        </p:nvSpPr>
        <p:spPr>
          <a:xfrm>
            <a:off x="8534400" y="70739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Native numeric missing splits; outputs clipped ≥ 0</a:t>
            </a:r>
          </a:p>
        </p:txBody>
      </p:sp>
      <p:sp>
        <p:nvSpPr>
          <p:cNvPr id="51" name="TextBox 50"/>
          <p:cNvSpPr txBox="1"/>
          <p:nvPr/>
        </p:nvSpPr>
        <p:spPr>
          <a:xfrm>
            <a:off x="762000" y="7988300"/>
            <a:ext cx="14605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Safeguards: 168-hour warm-up · windows end at t · fold-fitted preprocessing · evaluation targets stay observed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04 / CHRONOLOGICAL DESIGN AND SELECTION</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Tune on 2013, then freeze the settings</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Quarterly expanding refits · observed histories update hourly within each evaluation block.</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configs/phase1.toml, selection.json and validation_ablation.csv; rolling-origin forecasting principles.</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05 / 10</a:t>
            </a:r>
          </a:p>
        </p:txBody>
      </p:sp>
      <p:sp>
        <p:nvSpPr>
          <p:cNvPr id="11" name="Rounded Rectangle 10"/>
          <p:cNvSpPr/>
          <p:nvPr/>
        </p:nvSpPr>
        <p:spPr>
          <a:xfrm>
            <a:off x="711200" y="2628900"/>
            <a:ext cx="4724400" cy="1231900"/>
          </a:xfrm>
          <a:prstGeom prst="roundRect">
            <a:avLst>
              <a:gd name="adj" fmla="val 10309"/>
            </a:avLst>
          </a:prstGeom>
          <a:solidFill>
            <a:srgbClr val="087E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2500" y="2794000"/>
            <a:ext cx="4241800" cy="502920"/>
          </a:xfrm>
          <a:prstGeom prst="rect">
            <a:avLst/>
          </a:prstGeom>
          <a:noFill/>
        </p:spPr>
        <p:txBody>
          <a:bodyPr wrap="none" lIns="0" rIns="0" tIns="0" bIns="0" anchor="t">
            <a:spAutoFit/>
          </a:bodyPr>
          <a:lstStyle/>
          <a:p>
            <a:pPr algn="l">
              <a:lnSpc>
                <a:spcPct val="100000"/>
              </a:lnSpc>
              <a:spcBef>
                <a:spcPts val="0"/>
              </a:spcBef>
              <a:spcAft>
                <a:spcPts val="0"/>
              </a:spcAft>
            </a:pPr>
            <a:r>
              <a:rPr sz="3000" b="1">
                <a:solidFill>
                  <a:srgbClr val="FFFFFF"/>
                </a:solidFill>
                <a:latin typeface="Arial"/>
              </a:rPr>
              <a:t>2010–2012</a:t>
            </a:r>
          </a:p>
        </p:txBody>
      </p:sp>
      <p:sp>
        <p:nvSpPr>
          <p:cNvPr id="13" name="TextBox 12"/>
          <p:cNvSpPr txBox="1"/>
          <p:nvPr/>
        </p:nvSpPr>
        <p:spPr>
          <a:xfrm>
            <a:off x="952500" y="3352800"/>
            <a:ext cx="4241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Initial training + EDA</a:t>
            </a:r>
          </a:p>
        </p:txBody>
      </p:sp>
      <p:sp>
        <p:nvSpPr>
          <p:cNvPr id="14" name="Rounded Rectangle 13"/>
          <p:cNvSpPr/>
          <p:nvPr/>
        </p:nvSpPr>
        <p:spPr>
          <a:xfrm>
            <a:off x="5765800" y="2628900"/>
            <a:ext cx="4724400" cy="1231900"/>
          </a:xfrm>
          <a:prstGeom prst="roundRect">
            <a:avLst>
              <a:gd name="adj" fmla="val 10309"/>
            </a:avLst>
          </a:prstGeom>
          <a:solidFill>
            <a:srgbClr val="377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07100" y="2794000"/>
            <a:ext cx="4241800" cy="502920"/>
          </a:xfrm>
          <a:prstGeom prst="rect">
            <a:avLst/>
          </a:prstGeom>
          <a:noFill/>
        </p:spPr>
        <p:txBody>
          <a:bodyPr wrap="none" lIns="0" rIns="0" tIns="0" bIns="0" anchor="t">
            <a:spAutoFit/>
          </a:bodyPr>
          <a:lstStyle/>
          <a:p>
            <a:pPr algn="l">
              <a:lnSpc>
                <a:spcPct val="100000"/>
              </a:lnSpc>
              <a:spcBef>
                <a:spcPts val="0"/>
              </a:spcBef>
              <a:spcAft>
                <a:spcPts val="0"/>
              </a:spcAft>
            </a:pPr>
            <a:r>
              <a:rPr sz="3000" b="1">
                <a:solidFill>
                  <a:srgbClr val="FFFFFF"/>
                </a:solidFill>
                <a:latin typeface="Arial"/>
              </a:rPr>
              <a:t>2013</a:t>
            </a:r>
          </a:p>
        </p:txBody>
      </p:sp>
      <p:sp>
        <p:nvSpPr>
          <p:cNvPr id="16" name="TextBox 15"/>
          <p:cNvSpPr txBox="1"/>
          <p:nvPr/>
        </p:nvSpPr>
        <p:spPr>
          <a:xfrm>
            <a:off x="6007100" y="3352800"/>
            <a:ext cx="4241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Q1 Q2 Q3 Q4 · validation</a:t>
            </a:r>
          </a:p>
        </p:txBody>
      </p:sp>
      <p:sp>
        <p:nvSpPr>
          <p:cNvPr id="17" name="Rounded Rectangle 16"/>
          <p:cNvSpPr/>
          <p:nvPr/>
        </p:nvSpPr>
        <p:spPr>
          <a:xfrm>
            <a:off x="10820400" y="2628900"/>
            <a:ext cx="4724400" cy="1231900"/>
          </a:xfrm>
          <a:prstGeom prst="roundRect">
            <a:avLst>
              <a:gd name="adj" fmla="val 10309"/>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1700" y="2794000"/>
            <a:ext cx="4241800" cy="502920"/>
          </a:xfrm>
          <a:prstGeom prst="rect">
            <a:avLst/>
          </a:prstGeom>
          <a:noFill/>
        </p:spPr>
        <p:txBody>
          <a:bodyPr wrap="none" lIns="0" rIns="0" tIns="0" bIns="0" anchor="t">
            <a:spAutoFit/>
          </a:bodyPr>
          <a:lstStyle/>
          <a:p>
            <a:pPr algn="l">
              <a:lnSpc>
                <a:spcPct val="100000"/>
              </a:lnSpc>
              <a:spcBef>
                <a:spcPts val="0"/>
              </a:spcBef>
              <a:spcAft>
                <a:spcPts val="0"/>
              </a:spcAft>
            </a:pPr>
            <a:r>
              <a:rPr sz="3000" b="1">
                <a:solidFill>
                  <a:srgbClr val="FFFFFF"/>
                </a:solidFill>
                <a:latin typeface="Arial"/>
              </a:rPr>
              <a:t>2014</a:t>
            </a:r>
          </a:p>
        </p:txBody>
      </p:sp>
      <p:sp>
        <p:nvSpPr>
          <p:cNvPr id="19" name="TextBox 18"/>
          <p:cNvSpPr txBox="1"/>
          <p:nvPr/>
        </p:nvSpPr>
        <p:spPr>
          <a:xfrm>
            <a:off x="11061700" y="3352800"/>
            <a:ext cx="4241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Q1 Q2 Q3 Q4 · holdout</a:t>
            </a:r>
          </a:p>
        </p:txBody>
      </p:sp>
      <p:sp>
        <p:nvSpPr>
          <p:cNvPr id="20" name="Rounded Rectangle 19"/>
          <p:cNvSpPr/>
          <p:nvPr/>
        </p:nvSpPr>
        <p:spPr>
          <a:xfrm>
            <a:off x="711200" y="4165600"/>
            <a:ext cx="7264400" cy="4114800"/>
          </a:xfrm>
          <a:prstGeom prst="roundRect">
            <a:avLst>
              <a:gd name="adj" fmla="val 308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5200" y="43815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Does extra information help XGBoost?</a:t>
            </a:r>
          </a:p>
        </p:txBody>
      </p:sp>
      <p:sp>
        <p:nvSpPr>
          <p:cNvPr id="22" name="TextBox 21"/>
          <p:cNvSpPr txBox="1"/>
          <p:nvPr/>
        </p:nvSpPr>
        <p:spPr>
          <a:xfrm>
            <a:off x="965200" y="47879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Selected parameters fixed; validation dates only</a:t>
            </a:r>
          </a:p>
        </p:txBody>
      </p:sp>
      <p:pic>
        <p:nvPicPr>
          <p:cNvPr id="23" name="Picture 22" descr="validation_ablation.png"/>
          <p:cNvPicPr>
            <a:picLocks noChangeAspect="1"/>
          </p:cNvPicPr>
          <p:nvPr/>
        </p:nvPicPr>
        <p:blipFill>
          <a:blip r:embed="rId2"/>
          <a:stretch>
            <a:fillRect/>
          </a:stretch>
        </p:blipFill>
        <p:spPr>
          <a:xfrm>
            <a:off x="953277" y="5181600"/>
            <a:ext cx="6780244" cy="2768600"/>
          </a:xfrm>
          <a:prstGeom prst="rect">
            <a:avLst/>
          </a:prstGeom>
        </p:spPr>
      </p:pic>
      <p:sp>
        <p:nvSpPr>
          <p:cNvPr id="24" name="TextBox 23"/>
          <p:cNvSpPr txBox="1"/>
          <p:nvPr/>
        </p:nvSpPr>
        <p:spPr>
          <a:xfrm>
            <a:off x="965200" y="7988300"/>
            <a:ext cx="67437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DC813F"/>
                </a:solidFill>
                <a:latin typeface="Arial"/>
              </a:rPr>
              <a:t>Features improve XGBoost; simpler validation models remain stronger.</a:t>
            </a:r>
          </a:p>
        </p:txBody>
      </p:sp>
      <p:sp>
        <p:nvSpPr>
          <p:cNvPr id="25" name="Rounded Rectangle 24"/>
          <p:cNvSpPr/>
          <p:nvPr/>
        </p:nvSpPr>
        <p:spPr>
          <a:xfrm>
            <a:off x="8280400" y="4165600"/>
            <a:ext cx="7264400" cy="4114800"/>
          </a:xfrm>
          <a:prstGeom prst="roundRect">
            <a:avLst>
              <a:gd name="adj" fmla="val 308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34400" y="43815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Selection and label-availability rules</a:t>
            </a:r>
          </a:p>
        </p:txBody>
      </p:sp>
      <p:sp>
        <p:nvSpPr>
          <p:cNvPr id="27" name="TextBox 26"/>
          <p:cNvSpPr txBox="1"/>
          <p:nvPr/>
        </p:nvSpPr>
        <p:spPr>
          <a:xfrm>
            <a:off x="8534400" y="4851400"/>
            <a:ext cx="67437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Three-candidate grid → lowest pooled validation RMSE</a:t>
            </a:r>
          </a:p>
        </p:txBody>
      </p:sp>
      <p:sp>
        <p:nvSpPr>
          <p:cNvPr id="28" name="TextBox 27"/>
          <p:cNvSpPr txBox="1"/>
          <p:nvPr/>
        </p:nvSpPr>
        <p:spPr>
          <a:xfrm>
            <a:off x="8534400" y="5283200"/>
            <a:ext cx="6743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526774"/>
                </a:solidFill>
                <a:latin typeface="Arial"/>
              </a:rPr>
              <a:t>Candidate RMSE: 26.772 / 26.801 / 26.953</a:t>
            </a:r>
          </a:p>
        </p:txBody>
      </p:sp>
      <p:sp>
        <p:nvSpPr>
          <p:cNvPr id="29" name="TextBox 28"/>
          <p:cNvSpPr txBox="1"/>
          <p:nvPr/>
        </p:nvSpPr>
        <p:spPr>
          <a:xfrm>
            <a:off x="8534400" y="5765800"/>
            <a:ext cx="6743700" cy="332486"/>
          </a:xfrm>
          <a:prstGeom prst="rect">
            <a:avLst/>
          </a:prstGeom>
          <a:noFill/>
        </p:spPr>
        <p:txBody>
          <a:bodyPr wrap="none" lIns="0" rIns="0" tIns="0" bIns="0" anchor="t">
            <a:spAutoFit/>
          </a:bodyPr>
          <a:lstStyle/>
          <a:p>
            <a:pPr algn="l">
              <a:lnSpc>
                <a:spcPct val="100000"/>
              </a:lnSpc>
              <a:spcBef>
                <a:spcPts val="0"/>
              </a:spcBef>
              <a:spcAft>
                <a:spcPts val="0"/>
              </a:spcAft>
            </a:pPr>
            <a:r>
              <a:rPr sz="1900" b="1">
                <a:solidFill>
                  <a:srgbClr val="087E64"/>
                </a:solidFill>
                <a:latin typeface="Arial"/>
              </a:rPr>
              <a:t>Selected: 300 trees · depth 3 · learning rate 0.05</a:t>
            </a:r>
          </a:p>
        </p:txBody>
      </p:sp>
      <p:sp>
        <p:nvSpPr>
          <p:cNvPr id="30" name="TextBox 29"/>
          <p:cNvSpPr txBox="1"/>
          <p:nvPr/>
        </p:nvSpPr>
        <p:spPr>
          <a:xfrm>
            <a:off x="8534400" y="6159500"/>
            <a:ext cx="6743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526774"/>
                </a:solidFill>
                <a:latin typeface="Arial"/>
              </a:rPr>
              <a:t>Child weight 5 · row 0.8 / column 0.9 · L2 = 5</a:t>
            </a:r>
          </a:p>
        </p:txBody>
      </p:sp>
      <p:cxnSp>
        <p:nvCxnSpPr>
          <p:cNvPr id="31" name="Connector 30"/>
          <p:cNvCxnSpPr/>
          <p:nvPr/>
        </p:nvCxnSpPr>
        <p:spPr>
          <a:xfrm>
            <a:off x="8534400" y="6604000"/>
            <a:ext cx="67564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534400" y="6832600"/>
            <a:ext cx="67437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For target block B: latest training label ≤ B − 1 h</a:t>
            </a:r>
          </a:p>
        </p:txBody>
      </p:sp>
      <p:sp>
        <p:nvSpPr>
          <p:cNvPr id="33" name="TextBox 32"/>
          <p:cNvSpPr txBox="1"/>
          <p:nvPr/>
        </p:nvSpPr>
        <p:spPr>
          <a:xfrm>
            <a:off x="8534400" y="7353300"/>
            <a:ext cx="6743700" cy="34290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No holdout tuning or early stopping; fit preprocessing per fold.</a:t>
            </a:r>
          </a:p>
        </p:txBody>
      </p:sp>
      <p:sp>
        <p:nvSpPr>
          <p:cNvPr id="34" name="TextBox 33"/>
          <p:cNvSpPr txBox="1"/>
          <p:nvPr/>
        </p:nvSpPr>
        <p:spPr>
          <a:xfrm>
            <a:off x="8534400" y="7658100"/>
            <a:ext cx="6743700" cy="34290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Same observed targets and naive inputs for all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05 / POOLED HOLDOUT COMPARISON</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The gain is useful, but modest</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Same 8,531 observed 2014 target hours for all four models · MAE / RMSE in µg/m³; R² is dimensionless.</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Real-data metrics.csv; pooled errors recomputed from saved out-of-fold predictions.</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06 / 10</a:t>
            </a:r>
          </a:p>
        </p:txBody>
      </p:sp>
      <p:sp>
        <p:nvSpPr>
          <p:cNvPr id="11" name="Rounded Rectangle 10"/>
          <p:cNvSpPr/>
          <p:nvPr/>
        </p:nvSpPr>
        <p:spPr>
          <a:xfrm>
            <a:off x="7112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4.29%</a:t>
            </a:r>
          </a:p>
        </p:txBody>
      </p:sp>
      <p:sp>
        <p:nvSpPr>
          <p:cNvPr id="13" name="TextBox 12"/>
          <p:cNvSpPr txBox="1"/>
          <p:nvPr/>
        </p:nvSpPr>
        <p:spPr>
          <a:xfrm>
            <a:off x="9652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XGBoost RMSE improvement</a:t>
            </a:r>
          </a:p>
        </p:txBody>
      </p:sp>
      <p:sp>
        <p:nvSpPr>
          <p:cNvPr id="14" name="TextBox 13"/>
          <p:cNvSpPr txBox="1"/>
          <p:nvPr/>
        </p:nvSpPr>
        <p:spPr>
          <a:xfrm>
            <a:off x="9652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Relative to persistence, on common hours</a:t>
            </a:r>
          </a:p>
        </p:txBody>
      </p:sp>
      <p:sp>
        <p:nvSpPr>
          <p:cNvPr id="15" name="Rounded Rectangle 14"/>
          <p:cNvSpPr/>
          <p:nvPr/>
        </p:nvSpPr>
        <p:spPr>
          <a:xfrm>
            <a:off x="57658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198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4.41%</a:t>
            </a:r>
          </a:p>
        </p:txBody>
      </p:sp>
      <p:sp>
        <p:nvSpPr>
          <p:cNvPr id="17" name="TextBox 16"/>
          <p:cNvSpPr txBox="1"/>
          <p:nvPr/>
        </p:nvSpPr>
        <p:spPr>
          <a:xfrm>
            <a:off x="60198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Ridge RMSE improvement</a:t>
            </a:r>
          </a:p>
        </p:txBody>
      </p:sp>
      <p:sp>
        <p:nvSpPr>
          <p:cNvPr id="18" name="TextBox 17"/>
          <p:cNvSpPr txBox="1"/>
          <p:nvPr/>
        </p:nvSpPr>
        <p:spPr>
          <a:xfrm>
            <a:off x="60198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The linear comparator is slightly better</a:t>
            </a:r>
          </a:p>
        </p:txBody>
      </p:sp>
      <p:sp>
        <p:nvSpPr>
          <p:cNvPr id="19" name="Rounded Rectangle 18"/>
          <p:cNvSpPr/>
          <p:nvPr/>
        </p:nvSpPr>
        <p:spPr>
          <a:xfrm>
            <a:off x="10820400" y="2527300"/>
            <a:ext cx="4724400" cy="1155700"/>
          </a:xfrm>
          <a:prstGeom prst="roundRect">
            <a:avLst>
              <a:gd name="adj" fmla="val 989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074400" y="2654300"/>
            <a:ext cx="4216400" cy="533908"/>
          </a:xfrm>
          <a:prstGeom prst="rect">
            <a:avLst/>
          </a:prstGeom>
          <a:noFill/>
        </p:spPr>
        <p:txBody>
          <a:bodyPr wrap="none" lIns="0" rIns="0" tIns="0" bIns="0" anchor="t">
            <a:spAutoFit/>
          </a:bodyPr>
          <a:lstStyle/>
          <a:p>
            <a:pPr algn="l">
              <a:lnSpc>
                <a:spcPct val="100000"/>
              </a:lnSpc>
              <a:spcBef>
                <a:spcPts val="0"/>
              </a:spcBef>
              <a:spcAft>
                <a:spcPts val="0"/>
              </a:spcAft>
            </a:pPr>
            <a:r>
              <a:rPr sz="3200" b="1">
                <a:solidFill>
                  <a:srgbClr val="087E64"/>
                </a:solidFill>
                <a:latin typeface="Arial"/>
              </a:rPr>
              <a:t>97.39%</a:t>
            </a:r>
          </a:p>
        </p:txBody>
      </p:sp>
      <p:sp>
        <p:nvSpPr>
          <p:cNvPr id="21" name="TextBox 20"/>
          <p:cNvSpPr txBox="1"/>
          <p:nvPr/>
        </p:nvSpPr>
        <p:spPr>
          <a:xfrm>
            <a:off x="11074400" y="3187700"/>
            <a:ext cx="421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152E3A"/>
                </a:solidFill>
                <a:latin typeface="Arial"/>
              </a:rPr>
              <a:t>Holdout target coverage</a:t>
            </a:r>
          </a:p>
        </p:txBody>
      </p:sp>
      <p:sp>
        <p:nvSpPr>
          <p:cNvPr id="22" name="TextBox 21"/>
          <p:cNvSpPr txBox="1"/>
          <p:nvPr/>
        </p:nvSpPr>
        <p:spPr>
          <a:xfrm>
            <a:off x="11074400" y="3454400"/>
            <a:ext cx="4216400" cy="224028"/>
          </a:xfrm>
          <a:prstGeom prst="rect">
            <a:avLst/>
          </a:prstGeom>
          <a:noFill/>
        </p:spPr>
        <p:txBody>
          <a:bodyPr wrap="none" lIns="0" rIns="0" tIns="0" bIns="0" anchor="t">
            <a:spAutoFit/>
          </a:bodyPr>
          <a:lstStyle/>
          <a:p>
            <a:pPr algn="l">
              <a:lnSpc>
                <a:spcPct val="100000"/>
              </a:lnSpc>
              <a:spcBef>
                <a:spcPts val="0"/>
              </a:spcBef>
              <a:spcAft>
                <a:spcPts val="0"/>
              </a:spcAft>
            </a:pPr>
            <a:r>
              <a:rPr sz="1200" b="0">
                <a:solidFill>
                  <a:srgbClr val="526774"/>
                </a:solidFill>
                <a:latin typeface="Arial"/>
              </a:rPr>
              <a:t>8,531 / 8,760 expected hours; 229 excluded</a:t>
            </a:r>
          </a:p>
        </p:txBody>
      </p:sp>
      <p:sp>
        <p:nvSpPr>
          <p:cNvPr id="23" name="Rounded Rectangle 22"/>
          <p:cNvSpPr/>
          <p:nvPr/>
        </p:nvSpPr>
        <p:spPr>
          <a:xfrm>
            <a:off x="711200" y="3937000"/>
            <a:ext cx="7874000" cy="3937000"/>
          </a:xfrm>
          <a:prstGeom prst="roundRect">
            <a:avLst>
              <a:gd name="adj" fmla="val 32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5200" y="4152900"/>
            <a:ext cx="73660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Annual RMSE comparison</a:t>
            </a:r>
          </a:p>
        </p:txBody>
      </p:sp>
      <p:pic>
        <p:nvPicPr>
          <p:cNvPr id="25" name="Picture 24" descr="holdout_rmse.png"/>
          <p:cNvPicPr>
            <a:picLocks noChangeAspect="1"/>
          </p:cNvPicPr>
          <p:nvPr/>
        </p:nvPicPr>
        <p:blipFill>
          <a:blip r:embed="rId2"/>
          <a:stretch>
            <a:fillRect/>
          </a:stretch>
        </p:blipFill>
        <p:spPr>
          <a:xfrm>
            <a:off x="1279627" y="4495800"/>
            <a:ext cx="6737145" cy="3213100"/>
          </a:xfrm>
          <a:prstGeom prst="rect">
            <a:avLst/>
          </a:prstGeom>
        </p:spPr>
      </p:pic>
      <p:sp>
        <p:nvSpPr>
          <p:cNvPr id="26" name="Rounded Rectangle 25"/>
          <p:cNvSpPr/>
          <p:nvPr/>
        </p:nvSpPr>
        <p:spPr>
          <a:xfrm>
            <a:off x="8890000" y="3937000"/>
            <a:ext cx="6654800" cy="3937000"/>
          </a:xfrm>
          <a:prstGeom prst="roundRect">
            <a:avLst>
              <a:gd name="adj" fmla="val 322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4152900"/>
            <a:ext cx="61468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All required metrics</a:t>
            </a:r>
          </a:p>
        </p:txBody>
      </p:sp>
      <p:sp>
        <p:nvSpPr>
          <p:cNvPr id="28" name="TextBox 27"/>
          <p:cNvSpPr txBox="1"/>
          <p:nvPr/>
        </p:nvSpPr>
        <p:spPr>
          <a:xfrm>
            <a:off x="9156700" y="4635500"/>
            <a:ext cx="26416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526774"/>
                </a:solidFill>
                <a:latin typeface="Arial"/>
              </a:rPr>
              <a:t>Model</a:t>
            </a:r>
          </a:p>
        </p:txBody>
      </p:sp>
      <p:sp>
        <p:nvSpPr>
          <p:cNvPr id="29" name="TextBox 28"/>
          <p:cNvSpPr txBox="1"/>
          <p:nvPr/>
        </p:nvSpPr>
        <p:spPr>
          <a:xfrm>
            <a:off x="11874500" y="4635500"/>
            <a:ext cx="10160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526774"/>
                </a:solidFill>
                <a:latin typeface="Arial"/>
              </a:rPr>
              <a:t>MAE</a:t>
            </a:r>
          </a:p>
        </p:txBody>
      </p:sp>
      <p:sp>
        <p:nvSpPr>
          <p:cNvPr id="30" name="TextBox 29"/>
          <p:cNvSpPr txBox="1"/>
          <p:nvPr/>
        </p:nvSpPr>
        <p:spPr>
          <a:xfrm>
            <a:off x="13144500" y="4635500"/>
            <a:ext cx="10668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526774"/>
                </a:solidFill>
                <a:latin typeface="Arial"/>
              </a:rPr>
              <a:t>RMSE</a:t>
            </a:r>
          </a:p>
        </p:txBody>
      </p:sp>
      <p:sp>
        <p:nvSpPr>
          <p:cNvPr id="31" name="TextBox 30"/>
          <p:cNvSpPr txBox="1"/>
          <p:nvPr/>
        </p:nvSpPr>
        <p:spPr>
          <a:xfrm>
            <a:off x="14478000" y="4635500"/>
            <a:ext cx="787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1">
                <a:solidFill>
                  <a:srgbClr val="526774"/>
                </a:solidFill>
                <a:latin typeface="Arial"/>
              </a:rPr>
              <a:t>R²</a:t>
            </a:r>
          </a:p>
        </p:txBody>
      </p:sp>
      <p:sp>
        <p:nvSpPr>
          <p:cNvPr id="32" name="TextBox 31"/>
          <p:cNvSpPr txBox="1"/>
          <p:nvPr/>
        </p:nvSpPr>
        <p:spPr>
          <a:xfrm>
            <a:off x="9156700" y="5143500"/>
            <a:ext cx="26035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Persistence</a:t>
            </a:r>
          </a:p>
        </p:txBody>
      </p:sp>
      <p:sp>
        <p:nvSpPr>
          <p:cNvPr id="33" name="TextBox 32"/>
          <p:cNvSpPr txBox="1"/>
          <p:nvPr/>
        </p:nvSpPr>
        <p:spPr>
          <a:xfrm>
            <a:off x="11874500" y="5143500"/>
            <a:ext cx="10414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11.926</a:t>
            </a:r>
          </a:p>
        </p:txBody>
      </p:sp>
      <p:sp>
        <p:nvSpPr>
          <p:cNvPr id="34" name="TextBox 33"/>
          <p:cNvSpPr txBox="1"/>
          <p:nvPr/>
        </p:nvSpPr>
        <p:spPr>
          <a:xfrm>
            <a:off x="13144500" y="5143500"/>
            <a:ext cx="1155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22.033</a:t>
            </a:r>
          </a:p>
        </p:txBody>
      </p:sp>
      <p:sp>
        <p:nvSpPr>
          <p:cNvPr id="35" name="TextBox 34"/>
          <p:cNvSpPr txBox="1"/>
          <p:nvPr/>
        </p:nvSpPr>
        <p:spPr>
          <a:xfrm>
            <a:off x="14478000" y="5143500"/>
            <a:ext cx="939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0.9442</a:t>
            </a:r>
          </a:p>
        </p:txBody>
      </p:sp>
      <p:sp>
        <p:nvSpPr>
          <p:cNvPr id="36" name="TextBox 35"/>
          <p:cNvSpPr txBox="1"/>
          <p:nvPr/>
        </p:nvSpPr>
        <p:spPr>
          <a:xfrm>
            <a:off x="9156700" y="5727700"/>
            <a:ext cx="26035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Seasonal naive</a:t>
            </a:r>
          </a:p>
        </p:txBody>
      </p:sp>
      <p:sp>
        <p:nvSpPr>
          <p:cNvPr id="37" name="TextBox 36"/>
          <p:cNvSpPr txBox="1"/>
          <p:nvPr/>
        </p:nvSpPr>
        <p:spPr>
          <a:xfrm>
            <a:off x="11874500" y="5727700"/>
            <a:ext cx="10414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67.296</a:t>
            </a:r>
          </a:p>
        </p:txBody>
      </p:sp>
      <p:sp>
        <p:nvSpPr>
          <p:cNvPr id="38" name="TextBox 37"/>
          <p:cNvSpPr txBox="1"/>
          <p:nvPr/>
        </p:nvSpPr>
        <p:spPr>
          <a:xfrm>
            <a:off x="13144500" y="5727700"/>
            <a:ext cx="1155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98.754</a:t>
            </a:r>
          </a:p>
        </p:txBody>
      </p:sp>
      <p:sp>
        <p:nvSpPr>
          <p:cNvPr id="39" name="TextBox 38"/>
          <p:cNvSpPr txBox="1"/>
          <p:nvPr/>
        </p:nvSpPr>
        <p:spPr>
          <a:xfrm>
            <a:off x="14478000" y="5727700"/>
            <a:ext cx="939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-0.1205</a:t>
            </a:r>
          </a:p>
        </p:txBody>
      </p:sp>
      <p:sp>
        <p:nvSpPr>
          <p:cNvPr id="40" name="Rounded Rectangle 39"/>
          <p:cNvSpPr/>
          <p:nvPr/>
        </p:nvSpPr>
        <p:spPr>
          <a:xfrm>
            <a:off x="9055100" y="6223000"/>
            <a:ext cx="6324600" cy="469900"/>
          </a:xfrm>
          <a:prstGeom prst="roundRect">
            <a:avLst>
              <a:gd name="adj" fmla="val 16216"/>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56700" y="6311900"/>
            <a:ext cx="26035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Ridge</a:t>
            </a:r>
          </a:p>
        </p:txBody>
      </p:sp>
      <p:sp>
        <p:nvSpPr>
          <p:cNvPr id="42" name="TextBox 41"/>
          <p:cNvSpPr txBox="1"/>
          <p:nvPr/>
        </p:nvSpPr>
        <p:spPr>
          <a:xfrm>
            <a:off x="11874500" y="6311900"/>
            <a:ext cx="10414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11.825</a:t>
            </a:r>
          </a:p>
        </p:txBody>
      </p:sp>
      <p:sp>
        <p:nvSpPr>
          <p:cNvPr id="43" name="TextBox 42"/>
          <p:cNvSpPr txBox="1"/>
          <p:nvPr/>
        </p:nvSpPr>
        <p:spPr>
          <a:xfrm>
            <a:off x="13144500" y="6311900"/>
            <a:ext cx="1155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21.063</a:t>
            </a:r>
          </a:p>
        </p:txBody>
      </p:sp>
      <p:sp>
        <p:nvSpPr>
          <p:cNvPr id="44" name="TextBox 43"/>
          <p:cNvSpPr txBox="1"/>
          <p:nvPr/>
        </p:nvSpPr>
        <p:spPr>
          <a:xfrm>
            <a:off x="14478000" y="6311900"/>
            <a:ext cx="939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0.9490</a:t>
            </a:r>
          </a:p>
        </p:txBody>
      </p:sp>
      <p:sp>
        <p:nvSpPr>
          <p:cNvPr id="45" name="TextBox 44"/>
          <p:cNvSpPr txBox="1"/>
          <p:nvPr/>
        </p:nvSpPr>
        <p:spPr>
          <a:xfrm>
            <a:off x="9156700" y="6896100"/>
            <a:ext cx="26035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XGBoost</a:t>
            </a:r>
          </a:p>
        </p:txBody>
      </p:sp>
      <p:sp>
        <p:nvSpPr>
          <p:cNvPr id="46" name="TextBox 45"/>
          <p:cNvSpPr txBox="1"/>
          <p:nvPr/>
        </p:nvSpPr>
        <p:spPr>
          <a:xfrm>
            <a:off x="11874500" y="6896100"/>
            <a:ext cx="10414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11.833</a:t>
            </a:r>
          </a:p>
        </p:txBody>
      </p:sp>
      <p:sp>
        <p:nvSpPr>
          <p:cNvPr id="47" name="TextBox 46"/>
          <p:cNvSpPr txBox="1"/>
          <p:nvPr/>
        </p:nvSpPr>
        <p:spPr>
          <a:xfrm>
            <a:off x="13144500" y="6896100"/>
            <a:ext cx="11557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21.088</a:t>
            </a:r>
          </a:p>
        </p:txBody>
      </p:sp>
      <p:sp>
        <p:nvSpPr>
          <p:cNvPr id="48" name="TextBox 47"/>
          <p:cNvSpPr txBox="1"/>
          <p:nvPr/>
        </p:nvSpPr>
        <p:spPr>
          <a:xfrm>
            <a:off x="14478000" y="6896100"/>
            <a:ext cx="939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152E3A"/>
                </a:solidFill>
                <a:latin typeface="Arial"/>
              </a:rPr>
              <a:t>0.9489</a:t>
            </a:r>
          </a:p>
        </p:txBody>
      </p:sp>
      <p:sp>
        <p:nvSpPr>
          <p:cNvPr id="49" name="TextBox 48"/>
          <p:cNvSpPr txBox="1"/>
          <p:nvPr/>
        </p:nvSpPr>
        <p:spPr>
          <a:xfrm>
            <a:off x="762000" y="8089900"/>
            <a:ext cx="146558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087E64"/>
                </a:solidFill>
                <a:latin typeface="Arial"/>
              </a:rPr>
              <a:t>Ridge has lower RMSE by 0.025 µg/m³. The significance of this difference has not been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06 / STABILITY AND HIGH-POLLUTION DIAGNOSTICS</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A single annual score hides important differences</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Quarterly model rankings change, and XGBoost's pooled advantage does not extend to the high-pollution subset.</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fold_metrics.csv and errors_by_pollution_regime.csv; high threshold fixed at training p90 = 218 µg/m³.</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07 / 10</a:t>
            </a:r>
          </a:p>
        </p:txBody>
      </p:sp>
      <p:sp>
        <p:nvSpPr>
          <p:cNvPr id="11" name="Rounded Rectangle 10"/>
          <p:cNvSpPr/>
          <p:nvPr/>
        </p:nvSpPr>
        <p:spPr>
          <a:xfrm>
            <a:off x="711200" y="2667000"/>
            <a:ext cx="7264400" cy="4140200"/>
          </a:xfrm>
          <a:prstGeom prst="roundRect">
            <a:avLst>
              <a:gd name="adj" fmla="val 306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28829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Quarterly holdout RMSE</a:t>
            </a:r>
          </a:p>
        </p:txBody>
      </p:sp>
      <p:pic>
        <p:nvPicPr>
          <p:cNvPr id="13" name="Picture 12" descr="quarterly_rmse.png"/>
          <p:cNvPicPr>
            <a:picLocks noChangeAspect="1"/>
          </p:cNvPicPr>
          <p:nvPr/>
        </p:nvPicPr>
        <p:blipFill>
          <a:blip r:embed="rId2"/>
          <a:stretch>
            <a:fillRect/>
          </a:stretch>
        </p:blipFill>
        <p:spPr>
          <a:xfrm>
            <a:off x="1176337" y="3263900"/>
            <a:ext cx="6334125" cy="3378200"/>
          </a:xfrm>
          <a:prstGeom prst="rect">
            <a:avLst/>
          </a:prstGeom>
        </p:spPr>
      </p:pic>
      <p:sp>
        <p:nvSpPr>
          <p:cNvPr id="14" name="Rounded Rectangle 13"/>
          <p:cNvSpPr/>
          <p:nvPr/>
        </p:nvSpPr>
        <p:spPr>
          <a:xfrm>
            <a:off x="8280400" y="2667000"/>
            <a:ext cx="7264400" cy="4140200"/>
          </a:xfrm>
          <a:prstGeom prst="roundRect">
            <a:avLst>
              <a:gd name="adj" fmla="val 306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34400" y="28829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Errors by observed pollution level</a:t>
            </a:r>
          </a:p>
        </p:txBody>
      </p:sp>
      <p:pic>
        <p:nvPicPr>
          <p:cNvPr id="16" name="Picture 15" descr="pollution_regime_errors.png"/>
          <p:cNvPicPr>
            <a:picLocks noChangeAspect="1"/>
          </p:cNvPicPr>
          <p:nvPr/>
        </p:nvPicPr>
        <p:blipFill>
          <a:blip r:embed="rId3"/>
          <a:stretch>
            <a:fillRect/>
          </a:stretch>
        </p:blipFill>
        <p:spPr>
          <a:xfrm>
            <a:off x="8745537" y="3263900"/>
            <a:ext cx="6334125" cy="3378200"/>
          </a:xfrm>
          <a:prstGeom prst="rect">
            <a:avLst/>
          </a:prstGeom>
        </p:spPr>
      </p:pic>
      <p:sp>
        <p:nvSpPr>
          <p:cNvPr id="17" name="Rounded Rectangle 16"/>
          <p:cNvSpPr/>
          <p:nvPr/>
        </p:nvSpPr>
        <p:spPr>
          <a:xfrm>
            <a:off x="711200" y="7023100"/>
            <a:ext cx="7264400" cy="1257300"/>
          </a:xfrm>
          <a:prstGeom prst="roundRect">
            <a:avLst>
              <a:gd name="adj" fmla="val 909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5200" y="7200900"/>
            <a:ext cx="6756400" cy="332486"/>
          </a:xfrm>
          <a:prstGeom prst="rect">
            <a:avLst/>
          </a:prstGeom>
          <a:noFill/>
        </p:spPr>
        <p:txBody>
          <a:bodyPr wrap="none" lIns="0" rIns="0" tIns="0" bIns="0" anchor="t">
            <a:spAutoFit/>
          </a:bodyPr>
          <a:lstStyle/>
          <a:p>
            <a:pPr algn="l">
              <a:lnSpc>
                <a:spcPct val="100000"/>
              </a:lnSpc>
              <a:spcBef>
                <a:spcPts val="0"/>
              </a:spcBef>
              <a:spcAft>
                <a:spcPts val="0"/>
              </a:spcAft>
            </a:pPr>
            <a:r>
              <a:rPr sz="1900" b="1">
                <a:solidFill>
                  <a:srgbClr val="087E64"/>
                </a:solidFill>
                <a:latin typeface="Arial"/>
              </a:rPr>
              <a:t>Both learned models beat persistence each quarter.</a:t>
            </a:r>
          </a:p>
        </p:txBody>
      </p:sp>
      <p:sp>
        <p:nvSpPr>
          <p:cNvPr id="19" name="TextBox 18"/>
          <p:cNvSpPr txBox="1"/>
          <p:nvPr/>
        </p:nvSpPr>
        <p:spPr>
          <a:xfrm>
            <a:off x="965200" y="7645400"/>
            <a:ext cx="6756400" cy="329565"/>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526774"/>
                </a:solidFill>
                <a:latin typeface="Arial"/>
              </a:rPr>
              <a:t>Ridge leads Q1 / Q3; XGBoost leads Q2 / Q4.</a:t>
            </a:r>
          </a:p>
        </p:txBody>
      </p:sp>
      <p:sp>
        <p:nvSpPr>
          <p:cNvPr id="20" name="TextBox 19"/>
          <p:cNvSpPr txBox="1"/>
          <p:nvPr/>
        </p:nvSpPr>
        <p:spPr>
          <a:xfrm>
            <a:off x="965200" y="7936865"/>
            <a:ext cx="6756400" cy="329565"/>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526774"/>
                </a:solidFill>
                <a:latin typeface="Arial"/>
              </a:rPr>
              <a:t>In Q1, XGBoost's MAE still exceeds persistence.</a:t>
            </a:r>
          </a:p>
        </p:txBody>
      </p:sp>
      <p:sp>
        <p:nvSpPr>
          <p:cNvPr id="21" name="Rounded Rectangle 20"/>
          <p:cNvSpPr/>
          <p:nvPr/>
        </p:nvSpPr>
        <p:spPr>
          <a:xfrm>
            <a:off x="8280400" y="7023100"/>
            <a:ext cx="7264400" cy="1257300"/>
          </a:xfrm>
          <a:prstGeom prst="roundRect">
            <a:avLst>
              <a:gd name="adj" fmla="val 9090"/>
            </a:avLst>
          </a:prstGeom>
          <a:solidFill>
            <a:srgbClr val="E5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34400" y="7200900"/>
            <a:ext cx="6756400" cy="332486"/>
          </a:xfrm>
          <a:prstGeom prst="rect">
            <a:avLst/>
          </a:prstGeom>
          <a:noFill/>
        </p:spPr>
        <p:txBody>
          <a:bodyPr wrap="none" lIns="0" rIns="0" tIns="0" bIns="0" anchor="t">
            <a:spAutoFit/>
          </a:bodyPr>
          <a:lstStyle/>
          <a:p>
            <a:pPr algn="l">
              <a:lnSpc>
                <a:spcPct val="100000"/>
              </a:lnSpc>
              <a:spcBef>
                <a:spcPts val="0"/>
              </a:spcBef>
              <a:spcAft>
                <a:spcPts val="0"/>
              </a:spcAft>
            </a:pPr>
            <a:r>
              <a:rPr sz="1900" b="1">
                <a:solidFill>
                  <a:srgbClr val="DC813F"/>
                </a:solidFill>
                <a:latin typeface="Arial"/>
              </a:rPr>
              <a:t>High-pollution RMSE: XGBoost 39.959 vs 38.557.</a:t>
            </a:r>
          </a:p>
        </p:txBody>
      </p:sp>
      <p:sp>
        <p:nvSpPr>
          <p:cNvPr id="23" name="TextBox 22"/>
          <p:cNvSpPr txBox="1"/>
          <p:nvPr/>
        </p:nvSpPr>
        <p:spPr>
          <a:xfrm>
            <a:off x="8534400" y="7645400"/>
            <a:ext cx="6756400" cy="32258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High-pollution bias: XGBoost −11.912; Ridge −13.313.</a:t>
            </a:r>
          </a:p>
        </p:txBody>
      </p:sp>
      <p:sp>
        <p:nvSpPr>
          <p:cNvPr id="24" name="TextBox 23"/>
          <p:cNvSpPr txBox="1"/>
          <p:nvPr/>
        </p:nvSpPr>
        <p:spPr>
          <a:xfrm>
            <a:off x="8534400" y="7929880"/>
            <a:ext cx="6756400" cy="32258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Both learned models underpredict this subset on average.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07 / FORECAST TRACE AND FAILURE ANALYSIS</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Look at the predictions, not just the summary</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Saved rolling backtest forecasts · the final deployment refit is never used to generate these historical scores.</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2014 predictions.csv; trace shows 25–31 December; the spike is the largest XGBoost holdout miss.</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08 / 10</a:t>
            </a:r>
          </a:p>
        </p:txBody>
      </p:sp>
      <p:sp>
        <p:nvSpPr>
          <p:cNvPr id="11" name="Rounded Rectangle 10"/>
          <p:cNvSpPr/>
          <p:nvPr/>
        </p:nvSpPr>
        <p:spPr>
          <a:xfrm>
            <a:off x="711200" y="2527300"/>
            <a:ext cx="14833600" cy="3060700"/>
          </a:xfrm>
          <a:prstGeom prst="roundRect">
            <a:avLst>
              <a:gd name="adj" fmla="val 414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5200" y="2743200"/>
            <a:ext cx="143256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Actual versus predicted · final seven days of 2014</a:t>
            </a:r>
          </a:p>
        </p:txBody>
      </p:sp>
      <p:pic>
        <p:nvPicPr>
          <p:cNvPr id="13" name="Picture 12" descr="forecast_last_week.png"/>
          <p:cNvPicPr>
            <a:picLocks noChangeAspect="1"/>
          </p:cNvPicPr>
          <p:nvPr/>
        </p:nvPicPr>
        <p:blipFill>
          <a:blip r:embed="rId2"/>
          <a:stretch>
            <a:fillRect/>
          </a:stretch>
        </p:blipFill>
        <p:spPr>
          <a:xfrm>
            <a:off x="1879600" y="3086100"/>
            <a:ext cx="12496800" cy="2387600"/>
          </a:xfrm>
          <a:prstGeom prst="rect">
            <a:avLst/>
          </a:prstGeom>
        </p:spPr>
      </p:pic>
      <p:sp>
        <p:nvSpPr>
          <p:cNvPr id="14" name="Rounded Rectangle 13"/>
          <p:cNvSpPr/>
          <p:nvPr/>
        </p:nvSpPr>
        <p:spPr>
          <a:xfrm>
            <a:off x="711200" y="5816600"/>
            <a:ext cx="7264400" cy="2476500"/>
          </a:xfrm>
          <a:prstGeom prst="roundRect">
            <a:avLst>
              <a:gd name="adj" fmla="val 512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5200" y="60325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Signed residuals across the full holdout</a:t>
            </a:r>
          </a:p>
        </p:txBody>
      </p:sp>
      <p:pic>
        <p:nvPicPr>
          <p:cNvPr id="16" name="Picture 15" descr="residual_distribution.png"/>
          <p:cNvPicPr>
            <a:picLocks noChangeAspect="1"/>
          </p:cNvPicPr>
          <p:nvPr/>
        </p:nvPicPr>
        <p:blipFill>
          <a:blip r:embed="rId3"/>
          <a:stretch>
            <a:fillRect/>
          </a:stretch>
        </p:blipFill>
        <p:spPr>
          <a:xfrm>
            <a:off x="1466850" y="6324600"/>
            <a:ext cx="5753099" cy="1917700"/>
          </a:xfrm>
          <a:prstGeom prst="rect">
            <a:avLst/>
          </a:prstGeom>
        </p:spPr>
      </p:pic>
      <p:sp>
        <p:nvSpPr>
          <p:cNvPr id="17" name="Rounded Rectangle 16"/>
          <p:cNvSpPr/>
          <p:nvPr/>
        </p:nvSpPr>
        <p:spPr>
          <a:xfrm>
            <a:off x="8280400" y="5816600"/>
            <a:ext cx="7264400" cy="2476500"/>
          </a:xfrm>
          <a:prstGeom prst="roundRect">
            <a:avLst>
              <a:gd name="adj" fmla="val 512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4400" y="60325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Largest spike miss · 9 April 2014, 20:00</a:t>
            </a:r>
          </a:p>
        </p:txBody>
      </p:sp>
      <p:pic>
        <p:nvPicPr>
          <p:cNvPr id="19" name="Picture 18" descr="largest_spike_miss.png"/>
          <p:cNvPicPr>
            <a:picLocks noChangeAspect="1"/>
          </p:cNvPicPr>
          <p:nvPr/>
        </p:nvPicPr>
        <p:blipFill>
          <a:blip r:embed="rId4"/>
          <a:stretch>
            <a:fillRect/>
          </a:stretch>
        </p:blipFill>
        <p:spPr>
          <a:xfrm>
            <a:off x="9036050" y="6324600"/>
            <a:ext cx="5753099" cy="19177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4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087E64"/>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526774"/>
                </a:solidFill>
                <a:latin typeface="Arial"/>
              </a:rPr>
              <a:t>08 / IMPLEMENTATION, EXPLANATION AND NEXT STEPS</a:t>
            </a:r>
          </a:p>
        </p:txBody>
      </p:sp>
      <p:sp>
        <p:nvSpPr>
          <p:cNvPr id="5" name="Rectangle 4"/>
          <p:cNvSpPr/>
          <p:nvPr/>
        </p:nvSpPr>
        <p:spPr>
          <a:xfrm>
            <a:off x="711200" y="914400"/>
            <a:ext cx="14833600" cy="12700"/>
          </a:xfrm>
          <a:prstGeom prst="rect">
            <a:avLst/>
          </a:prstGeom>
          <a:solidFill>
            <a:srgbClr val="D4DD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1200" y="1295400"/>
            <a:ext cx="14833600" cy="657860"/>
          </a:xfrm>
          <a:prstGeom prst="rect">
            <a:avLst/>
          </a:prstGeom>
          <a:noFill/>
        </p:spPr>
        <p:txBody>
          <a:bodyPr wrap="none" lIns="0" rIns="0" tIns="0" bIns="0" anchor="t">
            <a:spAutoFit/>
          </a:bodyPr>
          <a:lstStyle/>
          <a:p>
            <a:pPr algn="l">
              <a:lnSpc>
                <a:spcPct val="100000"/>
              </a:lnSpc>
              <a:spcBef>
                <a:spcPts val="0"/>
              </a:spcBef>
              <a:spcAft>
                <a:spcPts val="0"/>
              </a:spcAft>
            </a:pPr>
            <a:r>
              <a:rPr sz="4000" b="1">
                <a:solidFill>
                  <a:srgbClr val="152E3A"/>
                </a:solidFill>
                <a:latin typeface="Arial"/>
              </a:rPr>
              <a:t>From experiment artifacts to the Aircast demo</a:t>
            </a:r>
          </a:p>
        </p:txBody>
      </p:sp>
      <p:sp>
        <p:nvSpPr>
          <p:cNvPr id="7" name="TextBox 6"/>
          <p:cNvSpPr txBox="1"/>
          <p:nvPr/>
        </p:nvSpPr>
        <p:spPr>
          <a:xfrm>
            <a:off x="711200" y="2019300"/>
            <a:ext cx="148336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526774"/>
                </a:solidFill>
                <a:latin typeface="Arial"/>
              </a:rPr>
              <a:t>The interface invokes the original Python feature builder and saved pipelines; training and inference are separate.</a:t>
            </a:r>
          </a:p>
        </p:txBody>
      </p:sp>
      <p:cxnSp>
        <p:nvCxnSpPr>
          <p:cNvPr id="8" name="Connector 7"/>
          <p:cNvCxnSpPr/>
          <p:nvPr/>
        </p:nvCxnSpPr>
        <p:spPr>
          <a:xfrm>
            <a:off x="711200" y="8509000"/>
            <a:ext cx="148336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526774"/>
                </a:solidFill>
                <a:latin typeface="Arial"/>
              </a:rPr>
              <a:t>SOURCE: Saved deployment-refit gain importance and the recorded historical/local prediction audit.</a:t>
            </a:r>
          </a:p>
        </p:txBody>
      </p:sp>
      <p:sp>
        <p:nvSpPr>
          <p:cNvPr id="10" name="TextBox 9"/>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526774"/>
                </a:solidFill>
                <a:latin typeface="Arial"/>
              </a:rPr>
              <a:t>09 / 10</a:t>
            </a:r>
          </a:p>
        </p:txBody>
      </p:sp>
      <p:sp>
        <p:nvSpPr>
          <p:cNvPr id="11" name="Rounded Rectangle 10"/>
          <p:cNvSpPr/>
          <p:nvPr/>
        </p:nvSpPr>
        <p:spPr>
          <a:xfrm>
            <a:off x="711200" y="2628900"/>
            <a:ext cx="3251200" cy="1104900"/>
          </a:xfrm>
          <a:prstGeom prst="roundRect">
            <a:avLst>
              <a:gd name="adj" fmla="val 10344"/>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1300"/>
            <a:ext cx="2844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3DE0B1"/>
                </a:solidFill>
                <a:latin typeface="Arial"/>
              </a:rPr>
              <a:t>INPUT</a:t>
            </a:r>
          </a:p>
        </p:txBody>
      </p:sp>
      <p:sp>
        <p:nvSpPr>
          <p:cNvPr id="13" name="TextBox 12"/>
          <p:cNvSpPr txBox="1"/>
          <p:nvPr/>
        </p:nvSpPr>
        <p:spPr>
          <a:xfrm>
            <a:off x="914400" y="3149600"/>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Manual observation / hourly</a:t>
            </a:r>
          </a:p>
        </p:txBody>
      </p:sp>
      <p:sp>
        <p:nvSpPr>
          <p:cNvPr id="14" name="TextBox 13"/>
          <p:cNvSpPr txBox="1"/>
          <p:nvPr/>
        </p:nvSpPr>
        <p:spPr>
          <a:xfrm>
            <a:off x="914400" y="3412998"/>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CSV</a:t>
            </a:r>
          </a:p>
        </p:txBody>
      </p:sp>
      <p:sp>
        <p:nvSpPr>
          <p:cNvPr id="15" name="TextBox 14"/>
          <p:cNvSpPr txBox="1"/>
          <p:nvPr/>
        </p:nvSpPr>
        <p:spPr>
          <a:xfrm>
            <a:off x="4089400" y="2959100"/>
            <a:ext cx="381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1">
                <a:solidFill>
                  <a:srgbClr val="087E64"/>
                </a:solidFill>
                <a:latin typeface="Arial"/>
              </a:rPr>
              <a:t>→</a:t>
            </a:r>
          </a:p>
        </p:txBody>
      </p:sp>
      <p:sp>
        <p:nvSpPr>
          <p:cNvPr id="16" name="Rounded Rectangle 15"/>
          <p:cNvSpPr/>
          <p:nvPr/>
        </p:nvSpPr>
        <p:spPr>
          <a:xfrm>
            <a:off x="4572000" y="2628900"/>
            <a:ext cx="3251200" cy="1104900"/>
          </a:xfrm>
          <a:prstGeom prst="roundRect">
            <a:avLst>
              <a:gd name="adj" fmla="val 10344"/>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5200" y="2781300"/>
            <a:ext cx="2844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3DE0B1"/>
                </a:solidFill>
                <a:latin typeface="Arial"/>
              </a:rPr>
              <a:t>VALIDATE</a:t>
            </a:r>
          </a:p>
        </p:txBody>
      </p:sp>
      <p:sp>
        <p:nvSpPr>
          <p:cNvPr id="18" name="TextBox 17"/>
          <p:cNvSpPr txBox="1"/>
          <p:nvPr/>
        </p:nvSpPr>
        <p:spPr>
          <a:xfrm>
            <a:off x="4775200" y="3149600"/>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Flask + revalidated history</a:t>
            </a:r>
          </a:p>
        </p:txBody>
      </p:sp>
      <p:sp>
        <p:nvSpPr>
          <p:cNvPr id="19" name="TextBox 18"/>
          <p:cNvSpPr txBox="1"/>
          <p:nvPr/>
        </p:nvSpPr>
        <p:spPr>
          <a:xfrm>
            <a:off x="7950200" y="2959100"/>
            <a:ext cx="381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1">
                <a:solidFill>
                  <a:srgbClr val="087E64"/>
                </a:solidFill>
                <a:latin typeface="Arial"/>
              </a:rPr>
              <a:t>→</a:t>
            </a:r>
          </a:p>
        </p:txBody>
      </p:sp>
      <p:sp>
        <p:nvSpPr>
          <p:cNvPr id="20" name="Rounded Rectangle 19"/>
          <p:cNvSpPr/>
          <p:nvPr/>
        </p:nvSpPr>
        <p:spPr>
          <a:xfrm>
            <a:off x="8432800" y="2628900"/>
            <a:ext cx="3251200" cy="1104900"/>
          </a:xfrm>
          <a:prstGeom prst="roundRect">
            <a:avLst>
              <a:gd name="adj" fmla="val 10344"/>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36000" y="2781300"/>
            <a:ext cx="2844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3DE0B1"/>
                </a:solidFill>
                <a:latin typeface="Arial"/>
              </a:rPr>
              <a:t>PREDICT</a:t>
            </a:r>
          </a:p>
        </p:txBody>
      </p:sp>
      <p:sp>
        <p:nvSpPr>
          <p:cNvPr id="22" name="TextBox 21"/>
          <p:cNvSpPr txBox="1"/>
          <p:nvPr/>
        </p:nvSpPr>
        <p:spPr>
          <a:xfrm>
            <a:off x="8636000" y="3149600"/>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Saved Ridge / XGBoost</a:t>
            </a:r>
          </a:p>
        </p:txBody>
      </p:sp>
      <p:sp>
        <p:nvSpPr>
          <p:cNvPr id="23" name="TextBox 22"/>
          <p:cNvSpPr txBox="1"/>
          <p:nvPr/>
        </p:nvSpPr>
        <p:spPr>
          <a:xfrm>
            <a:off x="8636000" y="3412998"/>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pipeline</a:t>
            </a:r>
          </a:p>
        </p:txBody>
      </p:sp>
      <p:sp>
        <p:nvSpPr>
          <p:cNvPr id="24" name="TextBox 23"/>
          <p:cNvSpPr txBox="1"/>
          <p:nvPr/>
        </p:nvSpPr>
        <p:spPr>
          <a:xfrm>
            <a:off x="11811000" y="2959100"/>
            <a:ext cx="381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1">
                <a:solidFill>
                  <a:srgbClr val="087E64"/>
                </a:solidFill>
                <a:latin typeface="Arial"/>
              </a:rPr>
              <a:t>→</a:t>
            </a:r>
          </a:p>
        </p:txBody>
      </p:sp>
      <p:sp>
        <p:nvSpPr>
          <p:cNvPr id="25" name="Rounded Rectangle 24"/>
          <p:cNvSpPr/>
          <p:nvPr/>
        </p:nvSpPr>
        <p:spPr>
          <a:xfrm>
            <a:off x="12293600" y="2628900"/>
            <a:ext cx="3251200" cy="1104900"/>
          </a:xfrm>
          <a:prstGeom prst="roundRect">
            <a:avLst>
              <a:gd name="adj" fmla="val 10344"/>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96800" y="2781300"/>
            <a:ext cx="28448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3DE0B1"/>
                </a:solidFill>
                <a:latin typeface="Arial"/>
              </a:rPr>
              <a:t>EXPLORE</a:t>
            </a:r>
          </a:p>
        </p:txBody>
      </p:sp>
      <p:sp>
        <p:nvSpPr>
          <p:cNvPr id="27" name="TextBox 26"/>
          <p:cNvSpPr txBox="1"/>
          <p:nvPr/>
        </p:nvSpPr>
        <p:spPr>
          <a:xfrm>
            <a:off x="12496800" y="3149600"/>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History chart + forecast</a:t>
            </a:r>
          </a:p>
        </p:txBody>
      </p:sp>
      <p:sp>
        <p:nvSpPr>
          <p:cNvPr id="28" name="TextBox 27"/>
          <p:cNvSpPr txBox="1"/>
          <p:nvPr/>
        </p:nvSpPr>
        <p:spPr>
          <a:xfrm>
            <a:off x="12496800" y="3412998"/>
            <a:ext cx="2844800" cy="301498"/>
          </a:xfrm>
          <a:prstGeom prst="rect">
            <a:avLst/>
          </a:prstGeom>
          <a:noFill/>
        </p:spPr>
        <p:txBody>
          <a:bodyPr wrap="none" lIns="0" rIns="0" tIns="0" bIns="0" anchor="t">
            <a:spAutoFit/>
          </a:bodyPr>
          <a:lstStyle/>
          <a:p>
            <a:pPr algn="l">
              <a:lnSpc>
                <a:spcPct val="100000"/>
              </a:lnSpc>
              <a:spcBef>
                <a:spcPts val="0"/>
              </a:spcBef>
              <a:spcAft>
                <a:spcPts val="0"/>
              </a:spcAft>
            </a:pPr>
            <a:r>
              <a:rPr sz="1700" b="0">
                <a:solidFill>
                  <a:srgbClr val="FFFFFF"/>
                </a:solidFill>
                <a:latin typeface="Arial"/>
              </a:rPr>
              <a:t>export</a:t>
            </a:r>
          </a:p>
        </p:txBody>
      </p:sp>
      <p:sp>
        <p:nvSpPr>
          <p:cNvPr id="29" name="Rounded Rectangle 28"/>
          <p:cNvSpPr/>
          <p:nvPr/>
        </p:nvSpPr>
        <p:spPr>
          <a:xfrm>
            <a:off x="711200" y="4051300"/>
            <a:ext cx="7264400" cy="4229100"/>
          </a:xfrm>
          <a:prstGeom prst="roundRect">
            <a:avLst>
              <a:gd name="adj" fmla="val 300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5200" y="42672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What the final XGBoost refit uses</a:t>
            </a:r>
          </a:p>
        </p:txBody>
      </p:sp>
      <p:sp>
        <p:nvSpPr>
          <p:cNvPr id="31" name="TextBox 30"/>
          <p:cNvSpPr txBox="1"/>
          <p:nvPr/>
        </p:nvSpPr>
        <p:spPr>
          <a:xfrm>
            <a:off x="965200" y="4673600"/>
            <a:ext cx="6756400" cy="255015"/>
          </a:xfrm>
          <a:prstGeom prst="rect">
            <a:avLst/>
          </a:prstGeom>
          <a:noFill/>
        </p:spPr>
        <p:txBody>
          <a:bodyPr wrap="none" lIns="0" rIns="0" tIns="0" bIns="0" anchor="t">
            <a:spAutoFit/>
          </a:bodyPr>
          <a:lstStyle/>
          <a:p>
            <a:pPr algn="l">
              <a:lnSpc>
                <a:spcPct val="100000"/>
              </a:lnSpc>
              <a:spcBef>
                <a:spcPts val="0"/>
              </a:spcBef>
              <a:spcAft>
                <a:spcPts val="0"/>
              </a:spcAft>
            </a:pPr>
            <a:r>
              <a:rPr sz="1400" b="0">
                <a:solidFill>
                  <a:srgbClr val="526774"/>
                </a:solidFill>
                <a:latin typeface="Arial"/>
              </a:rPr>
              <a:t>Top five features · gain importance is not causation</a:t>
            </a:r>
          </a:p>
        </p:txBody>
      </p:sp>
      <p:pic>
        <p:nvPicPr>
          <p:cNvPr id="32" name="Picture 31" descr="deployment_feature_importance.png"/>
          <p:cNvPicPr>
            <a:picLocks noChangeAspect="1"/>
          </p:cNvPicPr>
          <p:nvPr/>
        </p:nvPicPr>
        <p:blipFill>
          <a:blip r:embed="rId2"/>
          <a:stretch>
            <a:fillRect/>
          </a:stretch>
        </p:blipFill>
        <p:spPr>
          <a:xfrm>
            <a:off x="1142740" y="5041900"/>
            <a:ext cx="6401318" cy="2959100"/>
          </a:xfrm>
          <a:prstGeom prst="rect">
            <a:avLst/>
          </a:prstGeom>
        </p:spPr>
      </p:pic>
      <p:sp>
        <p:nvSpPr>
          <p:cNvPr id="33" name="Rounded Rectangle 32"/>
          <p:cNvSpPr/>
          <p:nvPr/>
        </p:nvSpPr>
        <p:spPr>
          <a:xfrm>
            <a:off x="8280400" y="4051300"/>
            <a:ext cx="7264400" cy="4229100"/>
          </a:xfrm>
          <a:prstGeom prst="roundRect">
            <a:avLst>
              <a:gd name="adj" fmla="val 300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34400" y="4267200"/>
            <a:ext cx="6756400" cy="378968"/>
          </a:xfrm>
          <a:prstGeom prst="rect">
            <a:avLst/>
          </a:prstGeom>
          <a:noFill/>
        </p:spPr>
        <p:txBody>
          <a:bodyPr wrap="none" lIns="0" rIns="0" tIns="0" bIns="0" anchor="t">
            <a:spAutoFit/>
          </a:bodyPr>
          <a:lstStyle/>
          <a:p>
            <a:pPr algn="l">
              <a:lnSpc>
                <a:spcPct val="100000"/>
              </a:lnSpc>
              <a:spcBef>
                <a:spcPts val="0"/>
              </a:spcBef>
              <a:spcAft>
                <a:spcPts val="0"/>
              </a:spcAft>
            </a:pPr>
            <a:r>
              <a:rPr sz="2200" b="1">
                <a:solidFill>
                  <a:srgbClr val="152E3A"/>
                </a:solidFill>
                <a:latin typeface="Arial"/>
              </a:rPr>
              <a:t>Reproducibility and practical limits</a:t>
            </a:r>
          </a:p>
        </p:txBody>
      </p:sp>
      <p:sp>
        <p:nvSpPr>
          <p:cNvPr id="35" name="TextBox 34"/>
          <p:cNvSpPr txBox="1"/>
          <p:nvPr/>
        </p:nvSpPr>
        <p:spPr>
          <a:xfrm>
            <a:off x="8534400" y="4699000"/>
            <a:ext cx="2628900" cy="642366"/>
          </a:xfrm>
          <a:prstGeom prst="rect">
            <a:avLst/>
          </a:prstGeom>
          <a:noFill/>
        </p:spPr>
        <p:txBody>
          <a:bodyPr wrap="none" lIns="0" rIns="0" tIns="0" bIns="0" anchor="t">
            <a:spAutoFit/>
          </a:bodyPr>
          <a:lstStyle/>
          <a:p>
            <a:pPr algn="l">
              <a:lnSpc>
                <a:spcPct val="100000"/>
              </a:lnSpc>
              <a:spcBef>
                <a:spcPts val="0"/>
              </a:spcBef>
              <a:spcAft>
                <a:spcPts val="0"/>
              </a:spcAft>
            </a:pPr>
            <a:r>
              <a:rPr sz="3900" b="1">
                <a:solidFill>
                  <a:srgbClr val="087E64"/>
                </a:solidFill>
                <a:latin typeface="Arial"/>
              </a:rPr>
              <a:t>17,062</a:t>
            </a:r>
          </a:p>
        </p:txBody>
      </p:sp>
      <p:sp>
        <p:nvSpPr>
          <p:cNvPr id="36" name="TextBox 35"/>
          <p:cNvSpPr txBox="1"/>
          <p:nvPr/>
        </p:nvSpPr>
        <p:spPr>
          <a:xfrm>
            <a:off x="11315700" y="4813300"/>
            <a:ext cx="3937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1">
                <a:solidFill>
                  <a:srgbClr val="152E3A"/>
                </a:solidFill>
                <a:latin typeface="Arial"/>
              </a:rPr>
              <a:t>refitted predictions reproduced</a:t>
            </a:r>
          </a:p>
        </p:txBody>
      </p:sp>
      <p:sp>
        <p:nvSpPr>
          <p:cNvPr id="37" name="TextBox 36"/>
          <p:cNvSpPr txBox="1"/>
          <p:nvPr/>
        </p:nvSpPr>
        <p:spPr>
          <a:xfrm>
            <a:off x="8534400" y="5359400"/>
            <a:ext cx="6756400" cy="286004"/>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Maximum numeric difference &lt; 6e−14 in the recorded audit.</a:t>
            </a:r>
          </a:p>
        </p:txBody>
      </p:sp>
      <p:cxnSp>
        <p:nvCxnSpPr>
          <p:cNvPr id="38" name="Connector 37"/>
          <p:cNvCxnSpPr/>
          <p:nvPr/>
        </p:nvCxnSpPr>
        <p:spPr>
          <a:xfrm>
            <a:off x="8534400" y="5753100"/>
            <a:ext cx="6756400" cy="0"/>
          </a:xfrm>
          <a:prstGeom prst="line">
            <a:avLst/>
          </a:prstGeom>
          <a:ln w="12700">
            <a:solidFill>
              <a:srgbClr val="D4DDD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534400" y="5994400"/>
            <a:ext cx="6756400" cy="33274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152E3A"/>
                </a:solidFill>
                <a:latin typeface="Arial"/>
              </a:rPr>
              <a:t>Retained: config, hashes, versions, fold audits, predictions,</a:t>
            </a:r>
          </a:p>
        </p:txBody>
      </p:sp>
      <p:sp>
        <p:nvSpPr>
          <p:cNvPr id="40" name="TextBox 39"/>
          <p:cNvSpPr txBox="1"/>
          <p:nvPr/>
        </p:nvSpPr>
        <p:spPr>
          <a:xfrm>
            <a:off x="8534400" y="6289040"/>
            <a:ext cx="6756400" cy="33274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152E3A"/>
                </a:solidFill>
                <a:latin typeface="Arial"/>
              </a:rPr>
              <a:t>cleaning exports, feature dictionary, CLI / notebook and tests.</a:t>
            </a:r>
          </a:p>
        </p:txBody>
      </p:sp>
      <p:sp>
        <p:nvSpPr>
          <p:cNvPr id="41" name="TextBox 40"/>
          <p:cNvSpPr txBox="1"/>
          <p:nvPr/>
        </p:nvSpPr>
        <p:spPr>
          <a:xfrm>
            <a:off x="8534400" y="6908800"/>
            <a:ext cx="6756400" cy="33274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Limits: historical Beijing; peak errors; assumed data availability.</a:t>
            </a:r>
          </a:p>
        </p:txBody>
      </p:sp>
      <p:sp>
        <p:nvSpPr>
          <p:cNvPr id="42" name="TextBox 41"/>
          <p:cNvSpPr txBox="1"/>
          <p:nvPr/>
        </p:nvSpPr>
        <p:spPr>
          <a:xfrm>
            <a:off x="8534400" y="7203440"/>
            <a:ext cx="6756400" cy="332740"/>
          </a:xfrm>
          <a:prstGeom prst="rect">
            <a:avLst/>
          </a:prstGeom>
          <a:noFill/>
        </p:spPr>
        <p:txBody>
          <a:bodyPr wrap="none" lIns="0" rIns="0" tIns="0" bIns="0" anchor="t">
            <a:spAutoFit/>
          </a:bodyPr>
          <a:lstStyle/>
          <a:p>
            <a:pPr algn="l">
              <a:lnSpc>
                <a:spcPct val="100000"/>
              </a:lnSpc>
              <a:spcBef>
                <a:spcPts val="0"/>
              </a:spcBef>
              <a:spcAft>
                <a:spcPts val="0"/>
              </a:spcAft>
            </a:pPr>
            <a:r>
              <a:rPr sz="1600" b="0">
                <a:solidFill>
                  <a:srgbClr val="526774"/>
                </a:solidFill>
                <a:latin typeface="Arial"/>
              </a:rPr>
              <a:t>Next: fresh evaluation, peak-focused methods and uncertainty.</a:t>
            </a:r>
          </a:p>
        </p:txBody>
      </p:sp>
      <p:sp>
        <p:nvSpPr>
          <p:cNvPr id="43" name="TextBox 42"/>
          <p:cNvSpPr txBox="1"/>
          <p:nvPr/>
        </p:nvSpPr>
        <p:spPr>
          <a:xfrm>
            <a:off x="8534400" y="7823200"/>
            <a:ext cx="67564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DC813F"/>
                </a:solidFill>
                <a:latin typeface="Arial"/>
              </a:rPr>
              <a:t>Demo scenarios are historical. No calibrated intervals or AQI mapping.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026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1200" y="431800"/>
            <a:ext cx="2159000" cy="301498"/>
          </a:xfrm>
          <a:prstGeom prst="rect">
            <a:avLst/>
          </a:prstGeom>
          <a:noFill/>
        </p:spPr>
        <p:txBody>
          <a:bodyPr wrap="none" lIns="0" rIns="0" tIns="0" bIns="0" anchor="t">
            <a:spAutoFit/>
          </a:bodyPr>
          <a:lstStyle/>
          <a:p>
            <a:pPr algn="l">
              <a:lnSpc>
                <a:spcPct val="100000"/>
              </a:lnSpc>
              <a:spcBef>
                <a:spcPts val="0"/>
              </a:spcBef>
              <a:spcAft>
                <a:spcPts val="0"/>
              </a:spcAft>
            </a:pPr>
            <a:r>
              <a:rPr sz="1700" b="1">
                <a:solidFill>
                  <a:srgbClr val="3DE0B1"/>
                </a:solidFill>
                <a:latin typeface="Arial"/>
              </a:rPr>
              <a:t>AIRCAST</a:t>
            </a:r>
          </a:p>
        </p:txBody>
      </p:sp>
      <p:sp>
        <p:nvSpPr>
          <p:cNvPr id="4" name="TextBox 3"/>
          <p:cNvSpPr txBox="1"/>
          <p:nvPr/>
        </p:nvSpPr>
        <p:spPr>
          <a:xfrm>
            <a:off x="3352800" y="469900"/>
            <a:ext cx="11430000" cy="239522"/>
          </a:xfrm>
          <a:prstGeom prst="rect">
            <a:avLst/>
          </a:prstGeom>
          <a:noFill/>
        </p:spPr>
        <p:txBody>
          <a:bodyPr wrap="none" lIns="0" rIns="0" tIns="0" bIns="0" anchor="t">
            <a:spAutoFit/>
          </a:bodyPr>
          <a:lstStyle/>
          <a:p>
            <a:pPr algn="l">
              <a:lnSpc>
                <a:spcPct val="100000"/>
              </a:lnSpc>
              <a:spcBef>
                <a:spcPts val="0"/>
              </a:spcBef>
              <a:spcAft>
                <a:spcPts val="0"/>
              </a:spcAft>
            </a:pPr>
            <a:r>
              <a:rPr sz="1300" b="1">
                <a:solidFill>
                  <a:srgbClr val="B8CECE"/>
                </a:solidFill>
                <a:latin typeface="Arial"/>
              </a:rPr>
              <a:t>TEAM / QUESTIONS AND DISCUSSION</a:t>
            </a:r>
          </a:p>
        </p:txBody>
      </p:sp>
      <p:sp>
        <p:nvSpPr>
          <p:cNvPr id="5" name="Rectangle 4"/>
          <p:cNvSpPr/>
          <p:nvPr/>
        </p:nvSpPr>
        <p:spPr>
          <a:xfrm>
            <a:off x="711200" y="914400"/>
            <a:ext cx="14833600" cy="12700"/>
          </a:xfrm>
          <a:prstGeom prst="rect">
            <a:avLst/>
          </a:prstGeom>
          <a:solidFill>
            <a:srgbClr val="2C47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711200" y="8509000"/>
            <a:ext cx="14833600" cy="0"/>
          </a:xfrm>
          <a:prstGeom prst="line">
            <a:avLst/>
          </a:prstGeom>
          <a:ln w="12700">
            <a:solidFill>
              <a:srgbClr val="2C475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11200" y="8712200"/>
            <a:ext cx="13589000" cy="208534"/>
          </a:xfrm>
          <a:prstGeom prst="rect">
            <a:avLst/>
          </a:prstGeom>
          <a:noFill/>
        </p:spPr>
        <p:txBody>
          <a:bodyPr wrap="none" lIns="0" rIns="0" tIns="0" bIns="0" anchor="t">
            <a:spAutoFit/>
          </a:bodyPr>
          <a:lstStyle/>
          <a:p>
            <a:pPr algn="l">
              <a:lnSpc>
                <a:spcPct val="100000"/>
              </a:lnSpc>
              <a:spcBef>
                <a:spcPts val="0"/>
              </a:spcBef>
              <a:spcAft>
                <a:spcPts val="0"/>
              </a:spcAft>
            </a:pPr>
            <a:r>
              <a:rPr sz="1100" b="0">
                <a:solidFill>
                  <a:srgbClr val="B8CECE"/>
                </a:solidFill>
                <a:latin typeface="Arial"/>
              </a:rPr>
              <a:t>CSAI PROJECT 19 / PHASE 1 · MACHINE LEARNING</a:t>
            </a:r>
          </a:p>
        </p:txBody>
      </p:sp>
      <p:sp>
        <p:nvSpPr>
          <p:cNvPr id="8" name="TextBox 7"/>
          <p:cNvSpPr txBox="1"/>
          <p:nvPr/>
        </p:nvSpPr>
        <p:spPr>
          <a:xfrm>
            <a:off x="14528800" y="8699500"/>
            <a:ext cx="1016000" cy="239522"/>
          </a:xfrm>
          <a:prstGeom prst="rect">
            <a:avLst/>
          </a:prstGeom>
          <a:noFill/>
        </p:spPr>
        <p:txBody>
          <a:bodyPr wrap="none" lIns="0" rIns="0" tIns="0" bIns="0" anchor="t">
            <a:spAutoFit/>
          </a:bodyPr>
          <a:lstStyle/>
          <a:p>
            <a:pPr algn="r">
              <a:lnSpc>
                <a:spcPct val="100000"/>
              </a:lnSpc>
              <a:spcBef>
                <a:spcPts val="0"/>
              </a:spcBef>
              <a:spcAft>
                <a:spcPts val="0"/>
              </a:spcAft>
            </a:pPr>
            <a:r>
              <a:rPr sz="1300" b="0">
                <a:solidFill>
                  <a:srgbClr val="B8CECE"/>
                </a:solidFill>
                <a:latin typeface="Arial"/>
              </a:rPr>
              <a:t>10 / 10</a:t>
            </a:r>
          </a:p>
        </p:txBody>
      </p:sp>
      <p:sp>
        <p:nvSpPr>
          <p:cNvPr id="9" name="TextBox 8"/>
          <p:cNvSpPr txBox="1"/>
          <p:nvPr/>
        </p:nvSpPr>
        <p:spPr>
          <a:xfrm>
            <a:off x="711200" y="1460500"/>
            <a:ext cx="14224000" cy="1262126"/>
          </a:xfrm>
          <a:prstGeom prst="rect">
            <a:avLst/>
          </a:prstGeom>
          <a:noFill/>
        </p:spPr>
        <p:txBody>
          <a:bodyPr wrap="none" lIns="0" rIns="0" tIns="0" bIns="0" anchor="t">
            <a:spAutoFit/>
          </a:bodyPr>
          <a:lstStyle/>
          <a:p>
            <a:pPr algn="l">
              <a:lnSpc>
                <a:spcPct val="100000"/>
              </a:lnSpc>
              <a:spcBef>
                <a:spcPts val="0"/>
              </a:spcBef>
              <a:spcAft>
                <a:spcPts val="0"/>
              </a:spcAft>
            </a:pPr>
            <a:r>
              <a:rPr sz="7900" b="1">
                <a:solidFill>
                  <a:srgbClr val="FFFFFF"/>
                </a:solidFill>
                <a:latin typeface="Arial"/>
              </a:rPr>
              <a:t>Thank you.</a:t>
            </a:r>
          </a:p>
        </p:txBody>
      </p:sp>
      <p:sp>
        <p:nvSpPr>
          <p:cNvPr id="10" name="TextBox 9"/>
          <p:cNvSpPr txBox="1"/>
          <p:nvPr/>
        </p:nvSpPr>
        <p:spPr>
          <a:xfrm>
            <a:off x="762000" y="2794000"/>
            <a:ext cx="13970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0">
                <a:solidFill>
                  <a:srgbClr val="3DE0B1"/>
                </a:solidFill>
                <a:latin typeface="Arial"/>
              </a:rPr>
              <a:t>Questions &amp; discussion</a:t>
            </a:r>
          </a:p>
        </p:txBody>
      </p:sp>
      <p:sp>
        <p:nvSpPr>
          <p:cNvPr id="11" name="TextBox 10"/>
          <p:cNvSpPr txBox="1"/>
          <p:nvPr/>
        </p:nvSpPr>
        <p:spPr>
          <a:xfrm>
            <a:off x="787400" y="3886200"/>
            <a:ext cx="8509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1">
                <a:solidFill>
                  <a:srgbClr val="BED1D2"/>
                </a:solidFill>
                <a:latin typeface="Arial"/>
              </a:rPr>
              <a:t>TEAM MEMBER</a:t>
            </a:r>
          </a:p>
        </p:txBody>
      </p:sp>
      <p:sp>
        <p:nvSpPr>
          <p:cNvPr id="12" name="TextBox 11"/>
          <p:cNvSpPr txBox="1"/>
          <p:nvPr/>
        </p:nvSpPr>
        <p:spPr>
          <a:xfrm>
            <a:off x="10452100" y="3886200"/>
            <a:ext cx="4572000" cy="270510"/>
          </a:xfrm>
          <a:prstGeom prst="rect">
            <a:avLst/>
          </a:prstGeom>
          <a:noFill/>
        </p:spPr>
        <p:txBody>
          <a:bodyPr wrap="none" lIns="0" rIns="0" tIns="0" bIns="0" anchor="t">
            <a:spAutoFit/>
          </a:bodyPr>
          <a:lstStyle/>
          <a:p>
            <a:pPr algn="l">
              <a:lnSpc>
                <a:spcPct val="100000"/>
              </a:lnSpc>
              <a:spcBef>
                <a:spcPts val="0"/>
              </a:spcBef>
              <a:spcAft>
                <a:spcPts val="0"/>
              </a:spcAft>
            </a:pPr>
            <a:r>
              <a:rPr sz="1500" b="1">
                <a:solidFill>
                  <a:srgbClr val="BED1D2"/>
                </a:solidFill>
                <a:latin typeface="Arial"/>
              </a:rPr>
              <a:t>ENROLLMENT NUMBER</a:t>
            </a:r>
          </a:p>
        </p:txBody>
      </p:sp>
      <p:sp>
        <p:nvSpPr>
          <p:cNvPr id="13" name="TextBox 12"/>
          <p:cNvSpPr txBox="1"/>
          <p:nvPr/>
        </p:nvSpPr>
        <p:spPr>
          <a:xfrm>
            <a:off x="787400" y="4445000"/>
            <a:ext cx="8509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1">
                <a:solidFill>
                  <a:srgbClr val="FFFFFF"/>
                </a:solidFill>
                <a:latin typeface="Arial"/>
              </a:rPr>
              <a:t>Samarth Khera</a:t>
            </a:r>
          </a:p>
        </p:txBody>
      </p:sp>
      <p:sp>
        <p:nvSpPr>
          <p:cNvPr id="14" name="TextBox 13"/>
          <p:cNvSpPr txBox="1"/>
          <p:nvPr/>
        </p:nvSpPr>
        <p:spPr>
          <a:xfrm>
            <a:off x="10452100" y="4457700"/>
            <a:ext cx="4572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0">
                <a:solidFill>
                  <a:srgbClr val="3DE0B1"/>
                </a:solidFill>
                <a:latin typeface="Arial"/>
              </a:rPr>
              <a:t>2401010407</a:t>
            </a:r>
          </a:p>
        </p:txBody>
      </p:sp>
      <p:cxnSp>
        <p:nvCxnSpPr>
          <p:cNvPr id="15" name="Connector 14"/>
          <p:cNvCxnSpPr/>
          <p:nvPr/>
        </p:nvCxnSpPr>
        <p:spPr>
          <a:xfrm>
            <a:off x="787400" y="4940300"/>
            <a:ext cx="14439900" cy="0"/>
          </a:xfrm>
          <a:prstGeom prst="line">
            <a:avLst/>
          </a:prstGeom>
          <a:ln w="10160">
            <a:solidFill>
              <a:srgbClr val="2C475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87400" y="5092700"/>
            <a:ext cx="8509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1">
                <a:solidFill>
                  <a:srgbClr val="FFFFFF"/>
                </a:solidFill>
                <a:latin typeface="Arial"/>
              </a:rPr>
              <a:t>Pratham Malhotra</a:t>
            </a:r>
          </a:p>
        </p:txBody>
      </p:sp>
      <p:sp>
        <p:nvSpPr>
          <p:cNvPr id="17" name="TextBox 16"/>
          <p:cNvSpPr txBox="1"/>
          <p:nvPr/>
        </p:nvSpPr>
        <p:spPr>
          <a:xfrm>
            <a:off x="10452100" y="5105400"/>
            <a:ext cx="4572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0">
                <a:solidFill>
                  <a:srgbClr val="3DE0B1"/>
                </a:solidFill>
                <a:latin typeface="Arial"/>
              </a:rPr>
              <a:t>2401010343</a:t>
            </a:r>
          </a:p>
        </p:txBody>
      </p:sp>
      <p:cxnSp>
        <p:nvCxnSpPr>
          <p:cNvPr id="18" name="Connector 17"/>
          <p:cNvCxnSpPr/>
          <p:nvPr/>
        </p:nvCxnSpPr>
        <p:spPr>
          <a:xfrm>
            <a:off x="787400" y="5588000"/>
            <a:ext cx="14439900" cy="0"/>
          </a:xfrm>
          <a:prstGeom prst="line">
            <a:avLst/>
          </a:prstGeom>
          <a:ln w="10160">
            <a:solidFill>
              <a:srgbClr val="2C475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7400" y="5740400"/>
            <a:ext cx="8509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1">
                <a:solidFill>
                  <a:srgbClr val="FFFFFF"/>
                </a:solidFill>
                <a:latin typeface="Arial"/>
              </a:rPr>
              <a:t>Adityaraj Pal</a:t>
            </a:r>
          </a:p>
        </p:txBody>
      </p:sp>
      <p:sp>
        <p:nvSpPr>
          <p:cNvPr id="20" name="TextBox 19"/>
          <p:cNvSpPr txBox="1"/>
          <p:nvPr/>
        </p:nvSpPr>
        <p:spPr>
          <a:xfrm>
            <a:off x="10452100" y="5753100"/>
            <a:ext cx="4572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0">
                <a:solidFill>
                  <a:srgbClr val="3DE0B1"/>
                </a:solidFill>
                <a:latin typeface="Arial"/>
              </a:rPr>
              <a:t>2401010042</a:t>
            </a:r>
          </a:p>
        </p:txBody>
      </p:sp>
      <p:cxnSp>
        <p:nvCxnSpPr>
          <p:cNvPr id="21" name="Connector 20"/>
          <p:cNvCxnSpPr/>
          <p:nvPr/>
        </p:nvCxnSpPr>
        <p:spPr>
          <a:xfrm>
            <a:off x="787400" y="6235700"/>
            <a:ext cx="14439900" cy="0"/>
          </a:xfrm>
          <a:prstGeom prst="line">
            <a:avLst/>
          </a:prstGeom>
          <a:ln w="10160">
            <a:solidFill>
              <a:srgbClr val="2C475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87400" y="6388100"/>
            <a:ext cx="8509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1">
                <a:solidFill>
                  <a:srgbClr val="FFFFFF"/>
                </a:solidFill>
                <a:latin typeface="Arial"/>
              </a:rPr>
              <a:t>Tattva Rajput</a:t>
            </a:r>
          </a:p>
        </p:txBody>
      </p:sp>
      <p:sp>
        <p:nvSpPr>
          <p:cNvPr id="23" name="TextBox 22"/>
          <p:cNvSpPr txBox="1"/>
          <p:nvPr/>
        </p:nvSpPr>
        <p:spPr>
          <a:xfrm>
            <a:off x="10452100" y="6400800"/>
            <a:ext cx="4572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0">
                <a:solidFill>
                  <a:srgbClr val="3DE0B1"/>
                </a:solidFill>
                <a:latin typeface="Arial"/>
              </a:rPr>
              <a:t>2401010478</a:t>
            </a:r>
          </a:p>
        </p:txBody>
      </p:sp>
      <p:cxnSp>
        <p:nvCxnSpPr>
          <p:cNvPr id="24" name="Connector 23"/>
          <p:cNvCxnSpPr/>
          <p:nvPr/>
        </p:nvCxnSpPr>
        <p:spPr>
          <a:xfrm>
            <a:off x="787400" y="6883400"/>
            <a:ext cx="14439900" cy="0"/>
          </a:xfrm>
          <a:prstGeom prst="line">
            <a:avLst/>
          </a:prstGeom>
          <a:ln w="10160">
            <a:solidFill>
              <a:srgbClr val="2C475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87400" y="7035800"/>
            <a:ext cx="8509000" cy="456438"/>
          </a:xfrm>
          <a:prstGeom prst="rect">
            <a:avLst/>
          </a:prstGeom>
          <a:noFill/>
        </p:spPr>
        <p:txBody>
          <a:bodyPr wrap="none" lIns="0" rIns="0" tIns="0" bIns="0" anchor="t">
            <a:spAutoFit/>
          </a:bodyPr>
          <a:lstStyle/>
          <a:p>
            <a:pPr algn="l">
              <a:lnSpc>
                <a:spcPct val="100000"/>
              </a:lnSpc>
              <a:spcBef>
                <a:spcPts val="0"/>
              </a:spcBef>
              <a:spcAft>
                <a:spcPts val="0"/>
              </a:spcAft>
            </a:pPr>
            <a:r>
              <a:rPr sz="2700" b="1">
                <a:solidFill>
                  <a:srgbClr val="FFFFFF"/>
                </a:solidFill>
                <a:latin typeface="Arial"/>
              </a:rPr>
              <a:t>Himanshu</a:t>
            </a:r>
          </a:p>
        </p:txBody>
      </p:sp>
      <p:sp>
        <p:nvSpPr>
          <p:cNvPr id="26" name="TextBox 25"/>
          <p:cNvSpPr txBox="1"/>
          <p:nvPr/>
        </p:nvSpPr>
        <p:spPr>
          <a:xfrm>
            <a:off x="10452100" y="7048500"/>
            <a:ext cx="4572000" cy="425450"/>
          </a:xfrm>
          <a:prstGeom prst="rect">
            <a:avLst/>
          </a:prstGeom>
          <a:noFill/>
        </p:spPr>
        <p:txBody>
          <a:bodyPr wrap="none" lIns="0" rIns="0" tIns="0" bIns="0" anchor="t">
            <a:spAutoFit/>
          </a:bodyPr>
          <a:lstStyle/>
          <a:p>
            <a:pPr algn="l">
              <a:lnSpc>
                <a:spcPct val="100000"/>
              </a:lnSpc>
              <a:spcBef>
                <a:spcPts val="0"/>
              </a:spcBef>
              <a:spcAft>
                <a:spcPts val="0"/>
              </a:spcAft>
            </a:pPr>
            <a:r>
              <a:rPr sz="2500" b="0">
                <a:solidFill>
                  <a:srgbClr val="3DE0B1"/>
                </a:solidFill>
                <a:latin typeface="Arial"/>
              </a:rPr>
              <a:t>2401010188</a:t>
            </a:r>
          </a:p>
        </p:txBody>
      </p:sp>
      <p:sp>
        <p:nvSpPr>
          <p:cNvPr id="27" name="TextBox 26"/>
          <p:cNvSpPr txBox="1"/>
          <p:nvPr/>
        </p:nvSpPr>
        <p:spPr>
          <a:xfrm>
            <a:off x="787400" y="7975600"/>
            <a:ext cx="14478000" cy="316992"/>
          </a:xfrm>
          <a:prstGeom prst="rect">
            <a:avLst/>
          </a:prstGeom>
          <a:noFill/>
        </p:spPr>
        <p:txBody>
          <a:bodyPr wrap="none" lIns="0" rIns="0" tIns="0" bIns="0" anchor="t">
            <a:spAutoFit/>
          </a:bodyPr>
          <a:lstStyle/>
          <a:p>
            <a:pPr algn="l">
              <a:lnSpc>
                <a:spcPct val="100000"/>
              </a:lnSpc>
              <a:spcBef>
                <a:spcPts val="0"/>
              </a:spcBef>
              <a:spcAft>
                <a:spcPts val="0"/>
              </a:spcAft>
            </a:pPr>
            <a:r>
              <a:rPr sz="1800" b="0">
                <a:solidFill>
                  <a:srgbClr val="BED1D2"/>
                </a:solidFill>
                <a:latin typeface="Arial"/>
              </a:rPr>
              <a:t>Phase 1: a reproducible pipeline, modest pooled gains, and clear evidence for the next experiment.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Aircast | Phase 1: Air Quality Prediction</dc:title>
  <dc:subject>One-hour PM2.5 forecasting: completed classical ML work</dc:subject>
  <dc:creator>Samarth Khera; Pratham Malhotra; Adityaraj Pal; Tattva Rajput; Himanshu</dc:creator>
  <cp:keywords>PM2.5, Phase 1, XGBoost, Ridge, chronological backtesting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